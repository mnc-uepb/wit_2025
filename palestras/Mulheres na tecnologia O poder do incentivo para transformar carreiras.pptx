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5" r:id="rId3"/>
    <p:sldId id="276" r:id="rId4"/>
    <p:sldId id="278" r:id="rId5"/>
    <p:sldId id="260" r:id="rId6"/>
    <p:sldId id="262" r:id="rId7"/>
    <p:sldId id="284" r:id="rId8"/>
    <p:sldId id="261" r:id="rId9"/>
    <p:sldId id="257" r:id="rId10"/>
    <p:sldId id="263" r:id="rId11"/>
    <p:sldId id="258" r:id="rId12"/>
    <p:sldId id="272" r:id="rId13"/>
    <p:sldId id="265" r:id="rId14"/>
    <p:sldId id="280" r:id="rId15"/>
    <p:sldId id="282" r:id="rId16"/>
    <p:sldId id="266" r:id="rId17"/>
    <p:sldId id="267" r:id="rId18"/>
    <p:sldId id="283" r:id="rId19"/>
    <p:sldId id="286" r:id="rId20"/>
    <p:sldId id="268" r:id="rId21"/>
    <p:sldId id="288" r:id="rId22"/>
    <p:sldId id="287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a Leal" userId="dfc79c3fe8028b4d" providerId="LiveId" clId="{52734E06-2559-4187-A611-395176279F92}"/>
    <pc:docChg chg="delSld">
      <pc:chgData name="Luciana Leal" userId="dfc79c3fe8028b4d" providerId="LiveId" clId="{52734E06-2559-4187-A611-395176279F92}" dt="2025-05-02T13:27:30.545" v="0" actId="47"/>
      <pc:docMkLst>
        <pc:docMk/>
      </pc:docMkLst>
      <pc:sldChg chg="del">
        <pc:chgData name="Luciana Leal" userId="dfc79c3fe8028b4d" providerId="LiveId" clId="{52734E06-2559-4187-A611-395176279F92}" dt="2025-05-02T13:27:30.545" v="0" actId="47"/>
        <pc:sldMkLst>
          <pc:docMk/>
          <pc:sldMk cId="2804097601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EDA52-BE0F-46B6-B3CB-05C0A0666E6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36CF-DDBB-478D-8B97-3E6A7FA847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57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852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057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871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62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36CF-DDBB-478D-8B97-3E6A7FA8475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845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EF0A8-E2CF-44B5-C75A-106982843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D312FC-BC90-6992-163F-67BAFB3C0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01ABA2-64BF-F25E-A342-4A4D8D1F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02CD93-2BE8-1812-46A7-C0248457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6E716B-812A-F38E-4467-39E2D14C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0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26FE4-F858-1BC1-DCAE-24EB85B5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E3145A-40E3-A7C8-DF48-464D63A9B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4FC38F-7331-77F7-7D47-7E1E9A10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D99D11-88E0-F49F-47D5-9D7ECB12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0998E4-83A2-D1AC-9FDC-A4CC0037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96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55B4B-B527-EEE4-F95B-76AE6410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B6F109-3167-7FE8-5CB8-54CDCFD55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B09D6A-097A-4C40-1406-BFCC944F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04C489-CCDC-AC61-B4C2-F90E307E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67708-5903-EB92-072A-7C2EBF1E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980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25641-BC73-E153-9ED7-8A064770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2DC44-9294-8260-BF04-EED570C4A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168646-27A0-CF14-72D9-F21834886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DE1AB8-10D4-BDDD-402E-0C6B06387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2AFB28-DA3C-2C08-7267-9396F65B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78415B-AB9F-183B-673A-22AA6D4B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6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F1356-6A0A-C61F-AFAA-6F060844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5AE742-3EF7-8B69-CFAF-1AAE6E39A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B8E176-DF6D-4DDA-AB90-0BAA56D10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86D99B-A4F8-F818-B7FE-DD66304F9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F469CD-679F-508F-5CA3-056BBFF83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EBB00E-3B8C-D4E0-35D7-879238D3D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4EACEA-F677-1BAE-75B7-55A82E80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DA10FF-E0E2-2D1F-BD5F-D30948F7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07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C65CF-CE71-F7FD-DB46-6D44A3AA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928F52-3BF1-23CC-C922-BEB72705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5BF225-7289-C0EB-7BDB-3F26611E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17A00F-1697-60F9-8400-074A7050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03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28422F-C7B1-2C01-92F0-FF377344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178ECF6-80D2-ADC9-39C2-8D3C9607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28BFF2-858C-6EC7-61DB-6AD6A17B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40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9F23A-AB68-952A-7B59-2275CE49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5E6739-0859-53D4-40D2-BA8ABE42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302738-7B0F-5965-E89F-517AC405B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4ECF38-8061-A1C4-B33D-718C7309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18F002-4F57-E7D2-892C-0DED1B2A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22912A-6A43-136B-AFA0-F00CE615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7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8519B-F3C1-560B-DFAF-5A9807D3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32EE19-A2B1-DB3E-CFAF-9ADE851F1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AEC1C6-0DE7-3EA3-8B41-999BCF038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9F2B88-205B-4B1D-FB3F-954F77DA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51AB4-8568-B967-EDF6-520773D5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FCC5E1-D185-5A04-9A8D-EDDB9D55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04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28CB7-9F4A-E40A-7C02-AE90D305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F9C2B2-4E36-04AB-1B67-8FF1C7FC2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C96932-86E0-D887-3E1A-75FCC42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B1222F-29A0-639F-332E-20964244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C01444-7482-DF5F-F4FD-1EAFB656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9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862791-79B3-2AC8-7E80-EA716DFA3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8C6424-5C6B-16AA-F02F-15DD29E5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7AA40D-86D9-6547-3A1B-94155D80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999B04-0921-37CC-9CB5-05BF3918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934DCE-5668-7E0E-26FA-45C086EB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6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571B13-962B-589C-B427-360ED658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9E63B1-43E9-13A3-DE7F-2577E6BAE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C09EF2-095F-CE81-45C6-92306F37D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47163-8959-4630-8FEF-EFAEAF673A40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72F8F4-2344-48A6-DB50-7E3C5B961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355906-3758-AD8A-0D8E-ED842EDB5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71714-9F17-4B71-9B73-555E03543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87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hyperlink" Target="https://www.wired.it/mobile/smartphone/2019/06/24/errore-bill-gates-android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ujeresenlahistoria.com/2011/01/la-encantadora-de-numeros-ada-lovelace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nchisesbr.blogspot.com/2015/03/cyber-cultura-grandes-mulheres-do-mundo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contraocorodoscontentes.com.br/2018/03/computacao-ja-foi-e-precisa-voltar-a-ser-coisa-de-mulher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cielo.org/blog/2017/05/10/persistem-as-disparidades-de-genero-na-ciencia-a-despeito-dos-significativos-avancos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.wikimedia.org/wiki/Gender_gap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pt/photo/1560337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dash-for-newbies/nerd-money-isnt-just-for-nerds-anymore-8d559050fcbc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dash-for-newbies/nerd-money-isnt-just-for-nerds-anymore-8d559050fcbc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xfuel.com/es/free-photo-opcwo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xfuel.com/es/free-photo-opcwo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lepyd.org/pages/resources.html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lucianaleal@servidor.uepb.edu.br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asus.ufscar.br/tags/canal-de-duvidas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30">
            <a:extLst>
              <a:ext uri="{FF2B5EF4-FFF2-40B4-BE49-F238E27FC236}">
                <a16:creationId xmlns:a16="http://schemas.microsoft.com/office/drawing/2014/main" id="{1F9866A9-B167-4D75-8F7F-360025AD6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C2DD07C1-6CFB-48E5-AD0E-AC091042B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Color">
              <a:extLst>
                <a:ext uri="{FF2B5EF4-FFF2-40B4-BE49-F238E27FC236}">
                  <a16:creationId xmlns:a16="http://schemas.microsoft.com/office/drawing/2014/main" id="{F9A8FC0F-BD29-4D9A-ABF1-D75E3A269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m 4" descr="Diagrama&#10;&#10;Descrição gerada automaticamente com confiança baixa">
            <a:extLst>
              <a:ext uri="{FF2B5EF4-FFF2-40B4-BE49-F238E27FC236}">
                <a16:creationId xmlns:a16="http://schemas.microsoft.com/office/drawing/2014/main" id="{6CE8181F-A3DD-3799-08DE-639C33603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030" y="1065276"/>
            <a:ext cx="4727448" cy="4727448"/>
          </a:xfrm>
          <a:prstGeom prst="rect">
            <a:avLst/>
          </a:prstGeom>
        </p:spPr>
      </p:pic>
      <p:grpSp>
        <p:nvGrpSpPr>
          <p:cNvPr id="47" name="Group 34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A3FD1AB-0D4E-BCDC-E841-AE74AAC7C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5633531" cy="2226769"/>
          </a:xfrm>
        </p:spPr>
        <p:txBody>
          <a:bodyPr anchor="ctr">
            <a:normAutofit fontScale="90000"/>
          </a:bodyPr>
          <a:lstStyle/>
          <a:p>
            <a:pPr algn="l"/>
            <a:r>
              <a:rPr lang="pt-BR" sz="4400" dirty="0">
                <a:solidFill>
                  <a:schemeClr val="bg1"/>
                </a:solidFill>
              </a:rPr>
              <a:t>Mulheres na Tecnologia: O poder do incentivo para transformar carreiras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A91070-A944-B46E-D8A5-8F0478136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640633"/>
            <a:ext cx="5631417" cy="2487212"/>
          </a:xfrm>
        </p:spPr>
        <p:txBody>
          <a:bodyPr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pt-BR" dirty="0">
                <a:solidFill>
                  <a:schemeClr val="tx2"/>
                </a:solidFill>
              </a:rPr>
              <a:t>Luciana Gomes . </a:t>
            </a:r>
          </a:p>
          <a:p>
            <a:pPr algn="l">
              <a:spcBef>
                <a:spcPts val="0"/>
              </a:spcBef>
            </a:pPr>
            <a:r>
              <a:rPr lang="pt-BR" dirty="0">
                <a:solidFill>
                  <a:schemeClr val="tx2"/>
                </a:solidFill>
              </a:rPr>
              <a:t>Computação . </a:t>
            </a:r>
          </a:p>
          <a:p>
            <a:pPr algn="l">
              <a:spcBef>
                <a:spcPts val="0"/>
              </a:spcBef>
            </a:pPr>
            <a:r>
              <a:rPr lang="pt-BR" b="1" dirty="0" err="1">
                <a:solidFill>
                  <a:schemeClr val="tx2"/>
                </a:solidFill>
              </a:rPr>
              <a:t>mnc.uepb</a:t>
            </a:r>
            <a:endParaRPr lang="pt-BR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9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30F7A-C326-6D50-EE92-848958F6F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3200" dirty="0"/>
              <a:t>Como você imagina que são os profissionais de computação / tecnologia?</a:t>
            </a:r>
          </a:p>
        </p:txBody>
      </p:sp>
    </p:spTree>
    <p:extLst>
      <p:ext uri="{BB962C8B-B14F-4D97-AF65-F5344CB8AC3E}">
        <p14:creationId xmlns:p14="http://schemas.microsoft.com/office/powerpoint/2010/main" val="362133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rk Zuckerberg promete remuneração bilionária para influenciadores em 2022">
            <a:extLst>
              <a:ext uri="{FF2B5EF4-FFF2-40B4-BE49-F238E27FC236}">
                <a16:creationId xmlns:a16="http://schemas.microsoft.com/office/drawing/2014/main" id="{186750CC-CD83-B7B7-618D-11D2FE835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0512" y="643467"/>
            <a:ext cx="3821774" cy="254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8" name="Straight Connector 1034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ço Reservado para Conteúdo 4" descr="Homem com óculos de grau&#10;&#10;Descrição gerada automaticamente">
            <a:extLst>
              <a:ext uri="{FF2B5EF4-FFF2-40B4-BE49-F238E27FC236}">
                <a16:creationId xmlns:a16="http://schemas.microsoft.com/office/drawing/2014/main" id="{9EE90020-CC10-60C0-48A6-362D81F17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444149" y="643467"/>
            <a:ext cx="4521274" cy="2543217"/>
          </a:xfrm>
          <a:prstGeom prst="rect">
            <a:avLst/>
          </a:prstGeom>
        </p:spPr>
      </p:pic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Linus Torvalds | Biography, Linux, &amp; Facts | Britannica">
            <a:extLst>
              <a:ext uri="{FF2B5EF4-FFF2-40B4-BE49-F238E27FC236}">
                <a16:creationId xmlns:a16="http://schemas.microsoft.com/office/drawing/2014/main" id="{A16B41B6-2EE0-0049-FE5B-55DE81BD1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4158" y="3671316"/>
            <a:ext cx="3394482" cy="254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ofissionais de tecnologia da informação: como contratar?">
            <a:extLst>
              <a:ext uri="{FF2B5EF4-FFF2-40B4-BE49-F238E27FC236}">
                <a16:creationId xmlns:a16="http://schemas.microsoft.com/office/drawing/2014/main" id="{D687719D-03FC-C221-DCBE-546F2251A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5763" y="3671316"/>
            <a:ext cx="3058046" cy="255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64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E5510F6-D1AF-9D6D-1AE4-4AE5439241BA}"/>
              </a:ext>
            </a:extLst>
          </p:cNvPr>
          <p:cNvSpPr txBox="1"/>
          <p:nvPr/>
        </p:nvSpPr>
        <p:spPr>
          <a:xfrm>
            <a:off x="7624119" y="5671751"/>
            <a:ext cx="3767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Por que isso acontece?</a:t>
            </a:r>
          </a:p>
        </p:txBody>
      </p:sp>
    </p:spTree>
    <p:extLst>
      <p:ext uri="{BB962C8B-B14F-4D97-AF65-F5344CB8AC3E}">
        <p14:creationId xmlns:p14="http://schemas.microsoft.com/office/powerpoint/2010/main" val="81949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9B72A6-5BB9-500D-23C5-AB9FF3BE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Presença da Mulher na Tecnologia</a:t>
            </a:r>
          </a:p>
        </p:txBody>
      </p:sp>
      <p:pic>
        <p:nvPicPr>
          <p:cNvPr id="5" name="Imagem 4" descr="Uma imagem contendo Esquemático">
            <a:extLst>
              <a:ext uri="{FF2B5EF4-FFF2-40B4-BE49-F238E27FC236}">
                <a16:creationId xmlns:a16="http://schemas.microsoft.com/office/drawing/2014/main" id="{A57F2D5D-25FC-779F-0FF0-7BC671282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51380" y="1675227"/>
            <a:ext cx="9016957" cy="453102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CFB8A8C-3C06-E6A2-4739-BAA03544F34D}"/>
              </a:ext>
            </a:extLst>
          </p:cNvPr>
          <p:cNvSpPr txBox="1"/>
          <p:nvPr/>
        </p:nvSpPr>
        <p:spPr>
          <a:xfrm>
            <a:off x="7670776" y="5869371"/>
            <a:ext cx="279756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 dirty="0">
                <a:solidFill>
                  <a:srgbClr val="FFFFFF"/>
                </a:solidFill>
                <a:hlinkClick r:id="rId3" tooltip="https://www.mujeresenlahistoria.com/2011/01/la-encantadora-de-numeros-ada-lovela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 dirty="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 dirty="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BR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60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Foto em preto e branco de pessoas sentadas ao redor de um computador&#10;&#10;Descrição gerada automaticamente">
            <a:extLst>
              <a:ext uri="{FF2B5EF4-FFF2-40B4-BE49-F238E27FC236}">
                <a16:creationId xmlns:a16="http://schemas.microsoft.com/office/drawing/2014/main" id="{C3437610-5903-59A4-30C3-06CF2EE92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7467"/>
          <a:stretch/>
        </p:blipFill>
        <p:spPr>
          <a:xfrm>
            <a:off x="3882570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4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EA1F0F-B31A-68DA-DD8E-C524DB142D62}"/>
              </a:ext>
            </a:extLst>
          </p:cNvPr>
          <p:cNvSpPr txBox="1"/>
          <p:nvPr/>
        </p:nvSpPr>
        <p:spPr>
          <a:xfrm>
            <a:off x="9415279" y="6657945"/>
            <a:ext cx="277672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anchisesbr.blogspot.com/2015/03/cyber-cultura-grandes-mulheres-do-mundo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06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9">
            <a:extLst>
              <a:ext uri="{FF2B5EF4-FFF2-40B4-BE49-F238E27FC236}">
                <a16:creationId xmlns:a16="http://schemas.microsoft.com/office/drawing/2014/main" id="{22F6364A-B358-4BEE-B158-0734D2C93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8202" y="1570814"/>
            <a:ext cx="0" cy="3710227"/>
          </a:xfrm>
          <a:prstGeom prst="line">
            <a:avLst/>
          </a:prstGeom>
          <a:ln w="19050">
            <a:solidFill>
              <a:srgbClr val="FCC1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F3F1AA30-24E2-CF31-B87A-97C3CA5E6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27" b="40935"/>
          <a:stretch/>
        </p:blipFill>
        <p:spPr>
          <a:xfrm>
            <a:off x="4200526" y="438099"/>
            <a:ext cx="6791028" cy="59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2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Foto editada de grupo de pessoas posando para foto&#10;&#10;Descrição gerada automaticamente">
            <a:extLst>
              <a:ext uri="{FF2B5EF4-FFF2-40B4-BE49-F238E27FC236}">
                <a16:creationId xmlns:a16="http://schemas.microsoft.com/office/drawing/2014/main" id="{88FB8DBB-6AE3-A973-04C9-733F5118B3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404" b="-1"/>
          <a:stretch/>
        </p:blipFill>
        <p:spPr>
          <a:xfrm>
            <a:off x="180975" y="166028"/>
            <a:ext cx="11823637" cy="64997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BD4B368-7DE0-0C27-7A93-3D1590FD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368032"/>
            <a:ext cx="10165218" cy="28065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Em 1970</a:t>
            </a:r>
            <a:br>
              <a:rPr lang="en-US" sz="11500" b="1" dirty="0">
                <a:solidFill>
                  <a:srgbClr val="FFFFFF"/>
                </a:solidFill>
              </a:rPr>
            </a:br>
            <a:r>
              <a:rPr lang="en-US" sz="11500" b="1" dirty="0">
                <a:solidFill>
                  <a:srgbClr val="FFFFFF"/>
                </a:solidFill>
              </a:rPr>
              <a:t>70%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706CAF-D158-0FDF-34F4-EC2A096A74B2}"/>
              </a:ext>
            </a:extLst>
          </p:cNvPr>
          <p:cNvSpPr txBox="1"/>
          <p:nvPr/>
        </p:nvSpPr>
        <p:spPr>
          <a:xfrm>
            <a:off x="9207051" y="6482609"/>
            <a:ext cx="279756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4" tooltip="https://www.contraocorodoscontentes.com.br/2018/03/computacao-ja-foi-e-precisa-voltar-a-ser-coisa-de-mulhe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pt-BR" sz="700">
              <a:solidFill>
                <a:srgbClr val="FFFFFF"/>
              </a:solidFill>
            </a:endParaRPr>
          </a:p>
        </p:txBody>
      </p:sp>
      <p:pic>
        <p:nvPicPr>
          <p:cNvPr id="17" name="Gráfico 16" descr="Mulher com preenchimento sólido">
            <a:extLst>
              <a:ext uri="{FF2B5EF4-FFF2-40B4-BE49-F238E27FC236}">
                <a16:creationId xmlns:a16="http://schemas.microsoft.com/office/drawing/2014/main" id="{C59FF8D2-9B9E-01F9-5173-5E663855B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9946" y="1595432"/>
            <a:ext cx="1119192" cy="11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59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B5F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418F73-9F7F-3361-574D-ABB80C727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Hoje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F7BFF1-D2EB-3E1B-2124-2198AA025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35" y="592031"/>
            <a:ext cx="4104881" cy="536585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4E5ABBF-BBBB-E72D-5408-104357AE5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489" y="3415141"/>
            <a:ext cx="3782334" cy="313700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65E4126-0293-0D3F-BE6F-73572DDA9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216" y="209230"/>
            <a:ext cx="4104881" cy="3223355"/>
          </a:xfrm>
          <a:prstGeom prst="rect">
            <a:avLst/>
          </a:prstGeom>
        </p:spPr>
      </p:pic>
      <p:pic>
        <p:nvPicPr>
          <p:cNvPr id="29" name="Gráfico 28" descr="Masculino com preenchimento sólido">
            <a:extLst>
              <a:ext uri="{FF2B5EF4-FFF2-40B4-BE49-F238E27FC236}">
                <a16:creationId xmlns:a16="http://schemas.microsoft.com/office/drawing/2014/main" id="{A1E6D260-55CC-97A3-6991-E0D913528E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2852" y="33208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4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3AAE0-4C6B-6E96-017D-6291BA71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498" y="3317618"/>
            <a:ext cx="2844114" cy="1325563"/>
          </a:xfrm>
        </p:spPr>
        <p:txBody>
          <a:bodyPr>
            <a:normAutofit fontScale="90000"/>
          </a:bodyPr>
          <a:lstStyle/>
          <a:p>
            <a:r>
              <a:rPr lang="pt-BR" sz="7300" b="1" dirty="0"/>
              <a:t>25% </a:t>
            </a:r>
            <a:r>
              <a:rPr lang="pt-BR" dirty="0"/>
              <a:t>da força de trabalho da indústria digital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F13168A-3EA8-3ED4-727B-FE9713D60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1" y="1985211"/>
            <a:ext cx="8735644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08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6E651BF-B24D-4127-88B5-3AC618B9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FC5CC0-3335-97A3-2877-4EF5A102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05" y="893763"/>
            <a:ext cx="4691478" cy="1587444"/>
          </a:xfrm>
        </p:spPr>
        <p:txBody>
          <a:bodyPr anchor="b">
            <a:normAutofit/>
          </a:bodyPr>
          <a:lstStyle/>
          <a:p>
            <a:r>
              <a:rPr lang="pt-BR" sz="2800" b="1" dirty="0"/>
              <a:t>Falta de representatividade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B2C9BB9-7DF9-4D08-B7E0-4CB6680D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909" y="893763"/>
            <a:ext cx="5176299" cy="501405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5875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3F72633-640B-48E7-9797-C725489AF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962" y="1060885"/>
            <a:ext cx="4906732" cy="4679812"/>
          </a:xfrm>
          <a:custGeom>
            <a:avLst/>
            <a:gdLst>
              <a:gd name="connsiteX0" fmla="*/ 2807999 w 4906732"/>
              <a:gd name="connsiteY0" fmla="*/ 0 h 4679812"/>
              <a:gd name="connsiteX1" fmla="*/ 3690684 w 4906732"/>
              <a:gd name="connsiteY1" fmla="*/ 186911 h 4679812"/>
              <a:gd name="connsiteX2" fmla="*/ 4334455 w 4906732"/>
              <a:gd name="connsiteY2" fmla="*/ 691216 h 4679812"/>
              <a:gd name="connsiteX3" fmla="*/ 4906732 w 4906732"/>
              <a:gd name="connsiteY3" fmla="*/ 2477497 h 4679812"/>
              <a:gd name="connsiteX4" fmla="*/ 4651814 w 4906732"/>
              <a:gd name="connsiteY4" fmla="*/ 3210070 h 4679812"/>
              <a:gd name="connsiteX5" fmla="*/ 3897062 w 4906732"/>
              <a:gd name="connsiteY5" fmla="*/ 3892202 h 4679812"/>
              <a:gd name="connsiteX6" fmla="*/ 3731118 w 4906732"/>
              <a:gd name="connsiteY6" fmla="*/ 4022687 h 4679812"/>
              <a:gd name="connsiteX7" fmla="*/ 2367551 w 4906732"/>
              <a:gd name="connsiteY7" fmla="*/ 4679812 h 4679812"/>
              <a:gd name="connsiteX8" fmla="*/ 665643 w 4906732"/>
              <a:gd name="connsiteY8" fmla="*/ 3747056 h 4679812"/>
              <a:gd name="connsiteX9" fmla="*/ 571329 w 4906732"/>
              <a:gd name="connsiteY9" fmla="*/ 3611676 h 4679812"/>
              <a:gd name="connsiteX10" fmla="*/ 379903 w 4906732"/>
              <a:gd name="connsiteY10" fmla="*/ 3338417 h 4679812"/>
              <a:gd name="connsiteX11" fmla="*/ 5800 w 4906732"/>
              <a:gd name="connsiteY11" fmla="*/ 2591152 h 4679812"/>
              <a:gd name="connsiteX12" fmla="*/ 0 w 4906732"/>
              <a:gd name="connsiteY12" fmla="*/ 2477497 h 4679812"/>
              <a:gd name="connsiteX13" fmla="*/ 229543 w 4906732"/>
              <a:gd name="connsiteY13" fmla="*/ 1550320 h 4679812"/>
              <a:gd name="connsiteX14" fmla="*/ 862575 w 4906732"/>
              <a:gd name="connsiteY14" fmla="*/ 753626 h 4679812"/>
              <a:gd name="connsiteX15" fmla="*/ 1777796 w 4906732"/>
              <a:gd name="connsiteY15" fmla="*/ 201123 h 4679812"/>
              <a:gd name="connsiteX16" fmla="*/ 2807999 w 4906732"/>
              <a:gd name="connsiteY16" fmla="*/ 0 h 4679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906732" h="4679812">
                <a:moveTo>
                  <a:pt x="2807999" y="0"/>
                </a:moveTo>
                <a:cubicBezTo>
                  <a:pt x="3130622" y="0"/>
                  <a:pt x="3427552" y="62945"/>
                  <a:pt x="3690684" y="186911"/>
                </a:cubicBezTo>
                <a:cubicBezTo>
                  <a:pt x="3937285" y="303182"/>
                  <a:pt x="4153876" y="472887"/>
                  <a:pt x="4334455" y="691216"/>
                </a:cubicBezTo>
                <a:cubicBezTo>
                  <a:pt x="4703514" y="1137598"/>
                  <a:pt x="4906732" y="1771961"/>
                  <a:pt x="4906732" y="2477497"/>
                </a:cubicBezTo>
                <a:cubicBezTo>
                  <a:pt x="4906732" y="2758986"/>
                  <a:pt x="4828077" y="2984902"/>
                  <a:pt x="4651814" y="3210070"/>
                </a:cubicBezTo>
                <a:cubicBezTo>
                  <a:pt x="4467443" y="3445606"/>
                  <a:pt x="4190412" y="3662546"/>
                  <a:pt x="3897062" y="3892202"/>
                </a:cubicBezTo>
                <a:cubicBezTo>
                  <a:pt x="3842940" y="3934522"/>
                  <a:pt x="3787028" y="3978338"/>
                  <a:pt x="3731118" y="4022687"/>
                </a:cubicBezTo>
                <a:cubicBezTo>
                  <a:pt x="3230651" y="4419592"/>
                  <a:pt x="2865384" y="4679812"/>
                  <a:pt x="2367551" y="4679812"/>
                </a:cubicBezTo>
                <a:cubicBezTo>
                  <a:pt x="1656416" y="4679812"/>
                  <a:pt x="1139812" y="4399068"/>
                  <a:pt x="665643" y="3747056"/>
                </a:cubicBezTo>
                <a:cubicBezTo>
                  <a:pt x="634031" y="3703588"/>
                  <a:pt x="602608" y="3658471"/>
                  <a:pt x="571329" y="3611676"/>
                </a:cubicBezTo>
                <a:cubicBezTo>
                  <a:pt x="505836" y="3513679"/>
                  <a:pt x="441816" y="3424553"/>
                  <a:pt x="379903" y="3338417"/>
                </a:cubicBezTo>
                <a:cubicBezTo>
                  <a:pt x="155376" y="3025912"/>
                  <a:pt x="32908" y="2844646"/>
                  <a:pt x="5800" y="2591152"/>
                </a:cubicBezTo>
                <a:cubicBezTo>
                  <a:pt x="1927" y="2554939"/>
                  <a:pt x="0" y="2517252"/>
                  <a:pt x="0" y="2477497"/>
                </a:cubicBezTo>
                <a:cubicBezTo>
                  <a:pt x="0" y="2161706"/>
                  <a:pt x="77286" y="1849760"/>
                  <a:pt x="229543" y="1550320"/>
                </a:cubicBezTo>
                <a:cubicBezTo>
                  <a:pt x="378535" y="1257397"/>
                  <a:pt x="591545" y="989269"/>
                  <a:pt x="862575" y="753626"/>
                </a:cubicBezTo>
                <a:cubicBezTo>
                  <a:pt x="1128970" y="521938"/>
                  <a:pt x="1445380" y="330861"/>
                  <a:pt x="1777796" y="201123"/>
                </a:cubicBezTo>
                <a:cubicBezTo>
                  <a:pt x="2119161" y="67648"/>
                  <a:pt x="2465896" y="0"/>
                  <a:pt x="2807999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Espaço Reservado para Conteúdo 10" descr="Gráfico&#10;&#10;Descrição gerada automaticamente com confiança baixa">
            <a:extLst>
              <a:ext uri="{FF2B5EF4-FFF2-40B4-BE49-F238E27FC236}">
                <a16:creationId xmlns:a16="http://schemas.microsoft.com/office/drawing/2014/main" id="{FA190438-CD4E-52EB-F46A-B6B49B6D6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218" r="4278" b="2"/>
          <a:stretch/>
        </p:blipFill>
        <p:spPr>
          <a:xfrm>
            <a:off x="1700213" y="1710364"/>
            <a:ext cx="3245990" cy="2686132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F76AE27-45BF-3DFF-D9B5-BDBD25888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506" y="2721030"/>
            <a:ext cx="4691478" cy="3243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err="1"/>
              <a:t>Dilema</a:t>
            </a:r>
            <a:r>
              <a:rPr lang="en-US" sz="4800" dirty="0"/>
              <a:t> </a:t>
            </a:r>
            <a:r>
              <a:rPr lang="en-US" sz="4800" dirty="0" err="1"/>
              <a:t>Tostines</a:t>
            </a:r>
            <a:r>
              <a:rPr lang="en-US" sz="4800" dirty="0"/>
              <a:t> da Mulher </a:t>
            </a:r>
            <a:r>
              <a:rPr lang="en-US" sz="4800" dirty="0" err="1"/>
              <a:t>na</a:t>
            </a:r>
            <a:r>
              <a:rPr lang="en-US" sz="4800" dirty="0"/>
              <a:t> </a:t>
            </a:r>
            <a:r>
              <a:rPr lang="en-US" sz="4800" dirty="0" err="1"/>
              <a:t>Tecnologia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39656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245EB-837E-19B3-598F-3F1884842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780" y="4392013"/>
            <a:ext cx="8932133" cy="1819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Ainda serão necessários </a:t>
            </a:r>
            <a:r>
              <a:rPr lang="pt-BR" sz="4400" b="0" i="0" dirty="0">
                <a:solidFill>
                  <a:srgbClr val="212529"/>
                </a:solidFill>
                <a:effectLst/>
                <a:latin typeface="Inter"/>
              </a:rPr>
              <a:t>131 anos </a:t>
            </a: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para que o mercado de trabalho alcance o equilíbrio entre </a:t>
            </a:r>
            <a:r>
              <a:rPr lang="pt-BR" sz="4400" b="0" i="0" dirty="0">
                <a:solidFill>
                  <a:srgbClr val="212529"/>
                </a:solidFill>
                <a:effectLst/>
                <a:latin typeface="Inter"/>
              </a:rPr>
              <a:t>homens</a:t>
            </a: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 e </a:t>
            </a:r>
            <a:r>
              <a:rPr lang="pt-BR" sz="4400" b="1" i="0" dirty="0">
                <a:solidFill>
                  <a:srgbClr val="212529"/>
                </a:solidFill>
                <a:effectLst/>
                <a:latin typeface="Inter"/>
              </a:rPr>
              <a:t>mulheres</a:t>
            </a:r>
            <a:r>
              <a:rPr lang="pt-BR" sz="3600" b="0" i="0" dirty="0">
                <a:solidFill>
                  <a:srgbClr val="212529"/>
                </a:solidFill>
                <a:effectLst/>
                <a:latin typeface="Inter"/>
              </a:rPr>
              <a:t>.</a:t>
            </a:r>
            <a:endParaRPr lang="pt-BR" sz="3600" dirty="0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B1216CE1-372D-4F91-DFC1-53C9B60D5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31705" y="646369"/>
            <a:ext cx="3128589" cy="342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Brinquedo de criança na mesa&#10;&#10;Descrição gerada automaticamente com confiança média">
            <a:extLst>
              <a:ext uri="{FF2B5EF4-FFF2-40B4-BE49-F238E27FC236}">
                <a16:creationId xmlns:a16="http://schemas.microsoft.com/office/drawing/2014/main" id="{C9B5E291-7075-44A1-1CC1-B3BEB2D34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5882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26F2D4-4278-CB5C-BF62-B9844CA2D5B1}"/>
              </a:ext>
            </a:extLst>
          </p:cNvPr>
          <p:cNvSpPr txBox="1"/>
          <p:nvPr/>
        </p:nvSpPr>
        <p:spPr>
          <a:xfrm>
            <a:off x="557214" y="365125"/>
            <a:ext cx="4103176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dirty="0" err="1">
                <a:latin typeface="+mj-lt"/>
                <a:ea typeface="+mj-ea"/>
                <a:cs typeface="+mj-cs"/>
              </a:rPr>
              <a:t>Barreiras</a:t>
            </a:r>
            <a:r>
              <a:rPr lang="en-US" sz="3100" b="1" dirty="0">
                <a:latin typeface="+mj-lt"/>
                <a:ea typeface="+mj-ea"/>
                <a:cs typeface="+mj-cs"/>
              </a:rPr>
              <a:t> que </a:t>
            </a:r>
            <a:r>
              <a:rPr lang="en-US" sz="3100" b="1" dirty="0" err="1">
                <a:latin typeface="+mj-lt"/>
                <a:ea typeface="+mj-ea"/>
                <a:cs typeface="+mj-cs"/>
              </a:rPr>
              <a:t>impedem</a:t>
            </a:r>
            <a:r>
              <a:rPr lang="en-US" sz="3100" b="1" dirty="0">
                <a:latin typeface="+mj-lt"/>
                <a:ea typeface="+mj-ea"/>
                <a:cs typeface="+mj-cs"/>
              </a:rPr>
              <a:t> </a:t>
            </a:r>
            <a:r>
              <a:rPr lang="en-US" sz="3100" b="1" dirty="0" err="1">
                <a:latin typeface="+mj-lt"/>
                <a:ea typeface="+mj-ea"/>
                <a:cs typeface="+mj-cs"/>
              </a:rPr>
              <a:t>mulheres</a:t>
            </a:r>
            <a:r>
              <a:rPr lang="en-US" sz="3100" b="1" dirty="0">
                <a:latin typeface="+mj-lt"/>
                <a:ea typeface="+mj-ea"/>
                <a:cs typeface="+mj-cs"/>
              </a:rPr>
              <a:t> de </a:t>
            </a:r>
            <a:r>
              <a:rPr lang="en-US" sz="3100" b="1" dirty="0" err="1">
                <a:latin typeface="+mj-lt"/>
                <a:ea typeface="+mj-ea"/>
                <a:cs typeface="+mj-cs"/>
              </a:rPr>
              <a:t>entrarem</a:t>
            </a:r>
            <a:r>
              <a:rPr lang="en-US" sz="3100" b="1" dirty="0">
                <a:latin typeface="+mj-lt"/>
                <a:ea typeface="+mj-ea"/>
                <a:cs typeface="+mj-cs"/>
              </a:rPr>
              <a:t>  </a:t>
            </a:r>
            <a:r>
              <a:rPr lang="en-US" sz="3100" b="1" dirty="0" err="1">
                <a:latin typeface="+mj-lt"/>
                <a:ea typeface="+mj-ea"/>
                <a:cs typeface="+mj-cs"/>
              </a:rPr>
              <a:t>em</a:t>
            </a:r>
            <a:r>
              <a:rPr lang="en-US" sz="3100" b="1" dirty="0">
                <a:latin typeface="+mj-lt"/>
                <a:ea typeface="+mj-ea"/>
                <a:cs typeface="+mj-cs"/>
              </a:rPr>
              <a:t> </a:t>
            </a:r>
            <a:r>
              <a:rPr lang="en-US" sz="3100" b="1" dirty="0" err="1">
                <a:latin typeface="+mj-lt"/>
                <a:ea typeface="+mj-ea"/>
                <a:cs typeface="+mj-cs"/>
              </a:rPr>
              <a:t>tecnologia</a:t>
            </a:r>
            <a:endParaRPr lang="en-US" sz="3100" b="1" dirty="0"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C2BBCF-3C6C-32C7-0E93-ED34A19B4572}"/>
              </a:ext>
            </a:extLst>
          </p:cNvPr>
          <p:cNvSpPr txBox="1"/>
          <p:nvPr/>
        </p:nvSpPr>
        <p:spPr>
          <a:xfrm>
            <a:off x="557214" y="2434201"/>
            <a:ext cx="4103175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Na </a:t>
            </a:r>
            <a:r>
              <a:rPr lang="en-US" sz="2000" dirty="0" err="1"/>
              <a:t>escola</a:t>
            </a:r>
            <a:r>
              <a:rPr lang="en-US" sz="2000" dirty="0"/>
              <a:t> </a:t>
            </a:r>
            <a:r>
              <a:rPr lang="en-US" sz="3600" dirty="0"/>
              <a:t>74%</a:t>
            </a:r>
            <a:r>
              <a:rPr lang="en-US" sz="2000" dirty="0"/>
              <a:t> das meninas </a:t>
            </a:r>
            <a:r>
              <a:rPr lang="en-US" sz="2000" dirty="0" err="1"/>
              <a:t>demonstram</a:t>
            </a:r>
            <a:r>
              <a:rPr lang="en-US" sz="2000" dirty="0"/>
              <a:t> interesse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tecnologia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Na </a:t>
            </a:r>
            <a:r>
              <a:rPr lang="en-US" sz="2000" dirty="0" err="1"/>
              <a:t>escolha</a:t>
            </a:r>
            <a:r>
              <a:rPr lang="en-US" sz="2000" dirty="0"/>
              <a:t> da </a:t>
            </a:r>
            <a:r>
              <a:rPr lang="en-US" sz="2000" dirty="0" err="1"/>
              <a:t>carreira</a:t>
            </a:r>
            <a:r>
              <a:rPr lang="en-US" sz="2000" dirty="0"/>
              <a:t> </a:t>
            </a:r>
            <a:r>
              <a:rPr lang="en-US" sz="3200" dirty="0"/>
              <a:t>0,4%</a:t>
            </a:r>
            <a:r>
              <a:rPr lang="en-US" sz="2000" dirty="0"/>
              <a:t> delas </a:t>
            </a:r>
            <a:r>
              <a:rPr lang="en-US" sz="2000" dirty="0" err="1"/>
              <a:t>escolhem</a:t>
            </a:r>
            <a:r>
              <a:rPr lang="en-US" sz="2000" dirty="0"/>
              <a:t> </a:t>
            </a:r>
            <a:r>
              <a:rPr lang="en-US" sz="2000" dirty="0" err="1"/>
              <a:t>cursos</a:t>
            </a:r>
            <a:r>
              <a:rPr lang="en-US" sz="2000" dirty="0"/>
              <a:t> de </a:t>
            </a:r>
            <a:r>
              <a:rPr lang="en-US" sz="2000" dirty="0" err="1"/>
              <a:t>tecnologia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3766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C26F2D4-4278-CB5C-BF62-B9844CA2D5B1}"/>
              </a:ext>
            </a:extLst>
          </p:cNvPr>
          <p:cNvSpPr txBox="1"/>
          <p:nvPr/>
        </p:nvSpPr>
        <p:spPr>
          <a:xfrm>
            <a:off x="481013" y="3752849"/>
            <a:ext cx="329088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 dirty="0" err="1">
                <a:latin typeface="+mj-lt"/>
                <a:ea typeface="+mj-ea"/>
                <a:cs typeface="+mj-cs"/>
              </a:rPr>
              <a:t>Barreiras</a:t>
            </a:r>
            <a:r>
              <a:rPr lang="en-US" sz="3300" b="1" dirty="0">
                <a:latin typeface="+mj-lt"/>
                <a:ea typeface="+mj-ea"/>
                <a:cs typeface="+mj-cs"/>
              </a:rPr>
              <a:t> que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impedem</a:t>
            </a:r>
            <a:r>
              <a:rPr lang="en-US" sz="3300" b="1" dirty="0">
                <a:latin typeface="+mj-lt"/>
                <a:ea typeface="+mj-ea"/>
                <a:cs typeface="+mj-cs"/>
              </a:rPr>
              <a:t>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mulheres</a:t>
            </a:r>
            <a:r>
              <a:rPr lang="en-US" sz="3300" b="1" dirty="0">
                <a:latin typeface="+mj-lt"/>
                <a:ea typeface="+mj-ea"/>
                <a:cs typeface="+mj-cs"/>
              </a:rPr>
              <a:t> de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entrarem</a:t>
            </a:r>
            <a:r>
              <a:rPr lang="en-US" sz="3300" b="1" dirty="0">
                <a:latin typeface="+mj-lt"/>
                <a:ea typeface="+mj-ea"/>
                <a:cs typeface="+mj-cs"/>
              </a:rPr>
              <a:t>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em</a:t>
            </a:r>
            <a:r>
              <a:rPr lang="en-US" sz="3300" b="1" dirty="0">
                <a:latin typeface="+mj-lt"/>
                <a:ea typeface="+mj-ea"/>
                <a:cs typeface="+mj-cs"/>
              </a:rPr>
              <a:t>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tecnologia</a:t>
            </a:r>
            <a:endParaRPr lang="en-US" sz="33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Imagem 3" descr="Foto em preto e branco de grupo de pessoas lado a lado&#10;&#10;Descrição gerada automaticamente com confiança média">
            <a:extLst>
              <a:ext uri="{FF2B5EF4-FFF2-40B4-BE49-F238E27FC236}">
                <a16:creationId xmlns:a16="http://schemas.microsoft.com/office/drawing/2014/main" id="{BC1F6418-8D1F-C012-160C-60442E781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6584" b="22224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A64BE28-0043-9975-0CFA-25E3B7D2D28E}"/>
              </a:ext>
            </a:extLst>
          </p:cNvPr>
          <p:cNvSpPr txBox="1"/>
          <p:nvPr/>
        </p:nvSpPr>
        <p:spPr>
          <a:xfrm>
            <a:off x="4223982" y="3752850"/>
            <a:ext cx="7485413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Faltam</a:t>
            </a:r>
            <a:r>
              <a:rPr lang="en-US" sz="2800" dirty="0"/>
              <a:t> </a:t>
            </a:r>
            <a:r>
              <a:rPr lang="en-US" sz="2800" dirty="0" err="1"/>
              <a:t>exemplos</a:t>
            </a:r>
            <a:r>
              <a:rPr lang="en-US" sz="2800" dirty="0"/>
              <a:t> que </a:t>
            </a:r>
            <a:r>
              <a:rPr lang="en-US" sz="2800" dirty="0" err="1"/>
              <a:t>inspirem</a:t>
            </a:r>
            <a:endParaRPr lang="en-US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Muitos</a:t>
            </a:r>
            <a:r>
              <a:rPr lang="en-US" sz="2800" dirty="0"/>
              <a:t> </a:t>
            </a:r>
            <a:r>
              <a:rPr lang="en-US" sz="2800" dirty="0" err="1"/>
              <a:t>estereótipos</a:t>
            </a:r>
            <a:endParaRPr lang="en-US" sz="28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Não</a:t>
            </a:r>
            <a:r>
              <a:rPr lang="en-US" sz="2800" dirty="0"/>
              <a:t> </a:t>
            </a:r>
            <a:r>
              <a:rPr lang="en-US" sz="2800" dirty="0" err="1"/>
              <a:t>pertencimento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51205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C26F2D4-4278-CB5C-BF62-B9844CA2D5B1}"/>
              </a:ext>
            </a:extLst>
          </p:cNvPr>
          <p:cNvSpPr txBox="1"/>
          <p:nvPr/>
        </p:nvSpPr>
        <p:spPr>
          <a:xfrm>
            <a:off x="481013" y="3752849"/>
            <a:ext cx="329088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 dirty="0" err="1">
                <a:latin typeface="+mj-lt"/>
                <a:ea typeface="+mj-ea"/>
                <a:cs typeface="+mj-cs"/>
              </a:rPr>
              <a:t>Barreiras</a:t>
            </a:r>
            <a:r>
              <a:rPr lang="en-US" sz="3300" b="1" dirty="0">
                <a:latin typeface="+mj-lt"/>
                <a:ea typeface="+mj-ea"/>
                <a:cs typeface="+mj-cs"/>
              </a:rPr>
              <a:t> que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impedem</a:t>
            </a:r>
            <a:r>
              <a:rPr lang="en-US" sz="3300" b="1" dirty="0">
                <a:latin typeface="+mj-lt"/>
                <a:ea typeface="+mj-ea"/>
                <a:cs typeface="+mj-cs"/>
              </a:rPr>
              <a:t>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mulheres</a:t>
            </a:r>
            <a:r>
              <a:rPr lang="en-US" sz="3300" b="1" dirty="0">
                <a:latin typeface="+mj-lt"/>
                <a:ea typeface="+mj-ea"/>
                <a:cs typeface="+mj-cs"/>
              </a:rPr>
              <a:t> de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entrarem</a:t>
            </a:r>
            <a:r>
              <a:rPr lang="en-US" sz="3300" b="1" dirty="0">
                <a:latin typeface="+mj-lt"/>
                <a:ea typeface="+mj-ea"/>
                <a:cs typeface="+mj-cs"/>
              </a:rPr>
              <a:t>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em</a:t>
            </a:r>
            <a:r>
              <a:rPr lang="en-US" sz="3300" b="1" dirty="0">
                <a:latin typeface="+mj-lt"/>
                <a:ea typeface="+mj-ea"/>
                <a:cs typeface="+mj-cs"/>
              </a:rPr>
              <a:t> </a:t>
            </a:r>
            <a:r>
              <a:rPr lang="en-US" sz="3300" b="1" dirty="0" err="1">
                <a:latin typeface="+mj-lt"/>
                <a:ea typeface="+mj-ea"/>
                <a:cs typeface="+mj-cs"/>
              </a:rPr>
              <a:t>tecnologia</a:t>
            </a:r>
            <a:endParaRPr lang="en-US" sz="33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Imagem 3" descr="Foto em preto e branco de grupo de pessoas lado a lado&#10;&#10;Descrição gerada automaticamente com confiança média">
            <a:extLst>
              <a:ext uri="{FF2B5EF4-FFF2-40B4-BE49-F238E27FC236}">
                <a16:creationId xmlns:a16="http://schemas.microsoft.com/office/drawing/2014/main" id="{BC1F6418-8D1F-C012-160C-60442E781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6584" b="22224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A64BE28-0043-9975-0CFA-25E3B7D2D28E}"/>
              </a:ext>
            </a:extLst>
          </p:cNvPr>
          <p:cNvSpPr txBox="1"/>
          <p:nvPr/>
        </p:nvSpPr>
        <p:spPr>
          <a:xfrm>
            <a:off x="4223982" y="3752850"/>
            <a:ext cx="7485413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125AE8-8495-52DC-293C-A64D7CCD1BDB}"/>
              </a:ext>
            </a:extLst>
          </p:cNvPr>
          <p:cNvSpPr txBox="1"/>
          <p:nvPr/>
        </p:nvSpPr>
        <p:spPr>
          <a:xfrm>
            <a:off x="4792394" y="4280173"/>
            <a:ext cx="5491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“Programar é difícil”     </a:t>
            </a:r>
          </a:p>
          <a:p>
            <a:r>
              <a:rPr lang="pt-BR" sz="2400" dirty="0"/>
              <a:t>“Não é pra mim”   </a:t>
            </a:r>
          </a:p>
          <a:p>
            <a:r>
              <a:rPr lang="pt-BR" sz="2400" dirty="0"/>
              <a:t> “Não sou capaz de fazer sozinha”</a:t>
            </a:r>
          </a:p>
        </p:txBody>
      </p:sp>
    </p:spTree>
    <p:extLst>
      <p:ext uri="{BB962C8B-B14F-4D97-AF65-F5344CB8AC3E}">
        <p14:creationId xmlns:p14="http://schemas.microsoft.com/office/powerpoint/2010/main" val="2809612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0D984E-FF2F-D01A-0BFC-D6EB1463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0407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dirty="0"/>
              <a:t>NINA DA HORA</a:t>
            </a:r>
            <a:br>
              <a:rPr lang="en-US" sz="4800" b="1" dirty="0"/>
            </a:br>
            <a:br>
              <a:rPr lang="en-US" sz="2800" dirty="0"/>
            </a:br>
            <a:r>
              <a:rPr lang="en-US" sz="2800" dirty="0" err="1"/>
              <a:t>Mulheres</a:t>
            </a:r>
            <a:r>
              <a:rPr lang="en-US" sz="2800" dirty="0"/>
              <a:t> que </a:t>
            </a:r>
            <a:r>
              <a:rPr lang="en-US" sz="2800" dirty="0" err="1"/>
              <a:t>superaram</a:t>
            </a:r>
            <a:r>
              <a:rPr lang="en-US" sz="2800" dirty="0"/>
              <a:t> </a:t>
            </a:r>
            <a:r>
              <a:rPr lang="en-US" sz="2800" dirty="0" err="1"/>
              <a:t>essas</a:t>
            </a:r>
            <a:r>
              <a:rPr lang="en-US" sz="2800" dirty="0"/>
              <a:t> </a:t>
            </a:r>
            <a:r>
              <a:rPr lang="en-US" sz="2800" dirty="0" err="1"/>
              <a:t>barreiras</a:t>
            </a:r>
            <a:endParaRPr lang="en-US" sz="2800" dirty="0"/>
          </a:p>
        </p:txBody>
      </p:sp>
      <p:pic>
        <p:nvPicPr>
          <p:cNvPr id="3074" name="Picture 2" descr="Nina da Hora - Ford Foundation">
            <a:extLst>
              <a:ext uri="{FF2B5EF4-FFF2-40B4-BE49-F238E27FC236}">
                <a16:creationId xmlns:a16="http://schemas.microsoft.com/office/drawing/2014/main" id="{14F4BFFE-EE68-7812-D1C2-8759F2D46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928"/>
          <a:stretch/>
        </p:blipFill>
        <p:spPr bwMode="auto">
          <a:xfrm>
            <a:off x="20" y="10"/>
            <a:ext cx="69928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92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963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5D095D3E-C464-41D5-87FA-07742698A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4108" name="Color">
              <a:extLst>
                <a:ext uri="{FF2B5EF4-FFF2-40B4-BE49-F238E27FC236}">
                  <a16:creationId xmlns:a16="http://schemas.microsoft.com/office/drawing/2014/main" id="{7722DCE9-76F1-42AC-AC0A-487CFB087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09" name="Color">
              <a:extLst>
                <a:ext uri="{FF2B5EF4-FFF2-40B4-BE49-F238E27FC236}">
                  <a16:creationId xmlns:a16="http://schemas.microsoft.com/office/drawing/2014/main" id="{B29A5FA1-D0E7-448B-AB7D-032F01D5B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111" name="Color">
            <a:extLst>
              <a:ext uri="{FF2B5EF4-FFF2-40B4-BE49-F238E27FC236}">
                <a16:creationId xmlns:a16="http://schemas.microsoft.com/office/drawing/2014/main" id="{C58F402F-FDB5-409B-8818-B6FCE06E5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FFEC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 descr="Camila Achutti fala sobre preconceito e empreendedorismo na computação">
            <a:extLst>
              <a:ext uri="{FF2B5EF4-FFF2-40B4-BE49-F238E27FC236}">
                <a16:creationId xmlns:a16="http://schemas.microsoft.com/office/drawing/2014/main" id="{C0E59D7F-D9FC-5EEF-008D-76CF1B6E9E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7307" y="1190509"/>
            <a:ext cx="6711526" cy="446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3" name="Group 411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114" name="Freeform: Shape 411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5" name="Freeform: Shape 411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6" name="Freeform: Shape 411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9" name="Freeform: Shape 411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20" name="Freeform: Shape 4119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B3B1274-730E-8933-16C0-C6FA10EA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780" y="2686976"/>
            <a:ext cx="3585114" cy="27820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7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CAMILA ACHUTTI</a:t>
            </a:r>
            <a:br>
              <a:rPr lang="en-US" sz="5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5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Mulheres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superaram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essas</a:t>
            </a:r>
            <a:r>
              <a:rPr lang="en-US" sz="2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barreiras</a:t>
            </a:r>
            <a:endParaRPr lang="en-US" sz="2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88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4882A807-E44C-979A-0CDF-25C9FAADD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827" r="1055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2B7A20-CB10-AACA-C4C3-D04518C5A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Por que deveríamos ter mais mulheres?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BC8E03-D7A1-1C34-078B-01B14B471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000" dirty="0"/>
              <a:t>Mais soluções para o mesmo problema</a:t>
            </a:r>
          </a:p>
          <a:p>
            <a:r>
              <a:rPr lang="pt-BR" sz="2000" dirty="0"/>
              <a:t>Preenche a lacuna de profissionais de tecnologia</a:t>
            </a:r>
          </a:p>
          <a:p>
            <a:r>
              <a:rPr lang="pt-BR" sz="2000" dirty="0"/>
              <a:t>Contribui para criação de produtos mais inclusivos</a:t>
            </a:r>
          </a:p>
          <a:p>
            <a:r>
              <a:rPr lang="pt-BR" sz="2000" dirty="0"/>
              <a:t>Inspiração para outras</a:t>
            </a:r>
          </a:p>
          <a:p>
            <a:r>
              <a:rPr lang="pt-BR" sz="2000" dirty="0"/>
              <a:t>Transformação cultural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84422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4882A807-E44C-979A-0CDF-25C9FAADD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827" r="1055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2B7A20-CB10-AACA-C4C3-D04518C5A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Por que deveríamos ter mais mulheres?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BC8E03-D7A1-1C34-078B-01B14B471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000" dirty="0"/>
              <a:t>Mais soluções para o mesmo problema</a:t>
            </a:r>
          </a:p>
          <a:p>
            <a:r>
              <a:rPr lang="pt-BR" sz="2000" dirty="0"/>
              <a:t>Há vagas no mercado de trabalho!</a:t>
            </a:r>
          </a:p>
          <a:p>
            <a:r>
              <a:rPr lang="pt-BR" sz="2000" dirty="0"/>
              <a:t>Produtos mais adequados ao público feminino</a:t>
            </a:r>
          </a:p>
          <a:p>
            <a:r>
              <a:rPr lang="pt-BR" sz="2000" dirty="0"/>
              <a:t>Inspiração para outras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203068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6A2AC-B31A-C3B8-D190-4FAFF735C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32" y="5200879"/>
            <a:ext cx="8082447" cy="8021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Redes de apoio</a:t>
            </a:r>
          </a:p>
        </p:txBody>
      </p:sp>
      <p:sp>
        <p:nvSpPr>
          <p:cNvPr id="5150" name="Rectangle 5126">
            <a:extLst>
              <a:ext uri="{FF2B5EF4-FFF2-40B4-BE49-F238E27FC236}">
                <a16:creationId xmlns:a16="http://schemas.microsoft.com/office/drawing/2014/main" id="{26882C51-76F9-4F99-997D-31FA6242A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126" y="629042"/>
            <a:ext cx="121721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56B2CA0-A7F6-CAC5-2DAB-53278A19F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31" y="692331"/>
            <a:ext cx="693924" cy="732958"/>
          </a:xfrm>
          <a:prstGeom prst="rect">
            <a:avLst/>
          </a:prstGeom>
        </p:spPr>
      </p:pic>
      <p:sp>
        <p:nvSpPr>
          <p:cNvPr id="5152" name="Right Triangle 5128">
            <a:extLst>
              <a:ext uri="{FF2B5EF4-FFF2-40B4-BE49-F238E27FC236}">
                <a16:creationId xmlns:a16="http://schemas.microsoft.com/office/drawing/2014/main" id="{61FFFC16-86E2-4B9A-BC6D-213DC2654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31731" y="635538"/>
            <a:ext cx="680408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3" name="Right Triangle 5130">
            <a:extLst>
              <a:ext uri="{FF2B5EF4-FFF2-40B4-BE49-F238E27FC236}">
                <a16:creationId xmlns:a16="http://schemas.microsoft.com/office/drawing/2014/main" id="{D8350E6D-CBC9-4A26-B84F-7145FDC9F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90665" y="609601"/>
            <a:ext cx="680408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4" name="Freeform: Shape 5132">
            <a:extLst>
              <a:ext uri="{FF2B5EF4-FFF2-40B4-BE49-F238E27FC236}">
                <a16:creationId xmlns:a16="http://schemas.microsoft.com/office/drawing/2014/main" id="{DD3524E0-C87C-4F38-9FC7-E969C15A7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14143" y="991883"/>
            <a:ext cx="1371600" cy="2356777"/>
          </a:xfrm>
          <a:custGeom>
            <a:avLst/>
            <a:gdLst>
              <a:gd name="connsiteX0" fmla="*/ 0 w 1371600"/>
              <a:gd name="connsiteY0" fmla="*/ 0 h 2356777"/>
              <a:gd name="connsiteX1" fmla="*/ 0 w 1371600"/>
              <a:gd name="connsiteY1" fmla="*/ 1216152 h 2356777"/>
              <a:gd name="connsiteX2" fmla="*/ 4495 w 1371600"/>
              <a:gd name="connsiteY2" fmla="*/ 1216152 h 2356777"/>
              <a:gd name="connsiteX3" fmla="*/ 4495 w 1371600"/>
              <a:gd name="connsiteY3" fmla="*/ 2356777 h 2356777"/>
              <a:gd name="connsiteX4" fmla="*/ 1367105 w 1371600"/>
              <a:gd name="connsiteY4" fmla="*/ 2356777 h 2356777"/>
              <a:gd name="connsiteX5" fmla="*/ 1367105 w 1371600"/>
              <a:gd name="connsiteY5" fmla="*/ 1216152 h 2356777"/>
              <a:gd name="connsiteX6" fmla="*/ 1371600 w 1371600"/>
              <a:gd name="connsiteY6" fmla="*/ 1216152 h 2356777"/>
              <a:gd name="connsiteX7" fmla="*/ 1367105 w 1371600"/>
              <a:gd name="connsiteY7" fmla="*/ 1212166 h 2356777"/>
              <a:gd name="connsiteX8" fmla="*/ 1367105 w 1371600"/>
              <a:gd name="connsiteY8" fmla="*/ 1210176 h 2356777"/>
              <a:gd name="connsiteX9" fmla="*/ 1364860 w 1371600"/>
              <a:gd name="connsiteY9" fmla="*/ 1210176 h 235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1600" h="2356777">
                <a:moveTo>
                  <a:pt x="0" y="0"/>
                </a:moveTo>
                <a:lnTo>
                  <a:pt x="0" y="1216152"/>
                </a:lnTo>
                <a:lnTo>
                  <a:pt x="4495" y="1216152"/>
                </a:lnTo>
                <a:lnTo>
                  <a:pt x="4495" y="2356777"/>
                </a:lnTo>
                <a:lnTo>
                  <a:pt x="1367105" y="2356777"/>
                </a:lnTo>
                <a:lnTo>
                  <a:pt x="1367105" y="1216152"/>
                </a:lnTo>
                <a:lnTo>
                  <a:pt x="1371600" y="1216152"/>
                </a:lnTo>
                <a:lnTo>
                  <a:pt x="1367105" y="1212166"/>
                </a:lnTo>
                <a:lnTo>
                  <a:pt x="1367105" y="1210176"/>
                </a:lnTo>
                <a:lnTo>
                  <a:pt x="1364860" y="121017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5" name="Right Triangle 5134">
            <a:extLst>
              <a:ext uri="{FF2B5EF4-FFF2-40B4-BE49-F238E27FC236}">
                <a16:creationId xmlns:a16="http://schemas.microsoft.com/office/drawing/2014/main" id="{F1ED1DF4-DDDE-4464-8ABC-ED1F633CC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5916" y="1477941"/>
            <a:ext cx="1092260" cy="13716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6" name="Rectangle 5136">
            <a:extLst>
              <a:ext uri="{FF2B5EF4-FFF2-40B4-BE49-F238E27FC236}">
                <a16:creationId xmlns:a16="http://schemas.microsoft.com/office/drawing/2014/main" id="{5CB4E315-91F2-4710-B866-B119037E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5769" y="1447563"/>
            <a:ext cx="1980472" cy="1396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7" name="Rectangle 5138">
            <a:extLst>
              <a:ext uri="{FF2B5EF4-FFF2-40B4-BE49-F238E27FC236}">
                <a16:creationId xmlns:a16="http://schemas.microsoft.com/office/drawing/2014/main" id="{DCBE1B01-A27C-45C2-ADA4-AA13C3AC1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16" y="2850674"/>
            <a:ext cx="2716145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8" name="Rectangle 5140">
            <a:extLst>
              <a:ext uri="{FF2B5EF4-FFF2-40B4-BE49-F238E27FC236}">
                <a16:creationId xmlns:a16="http://schemas.microsoft.com/office/drawing/2014/main" id="{F6FE5468-759E-4E83-828A-5587C7F58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78372" y="1485831"/>
            <a:ext cx="199093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03842FB-1E56-30D4-545B-42710185E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888" y="1889143"/>
            <a:ext cx="1653942" cy="54532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9682C22-B872-D1D1-A097-B41DB4CB2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499" y="1711496"/>
            <a:ext cx="1685012" cy="868834"/>
          </a:xfrm>
          <a:prstGeom prst="rect">
            <a:avLst/>
          </a:prstGeom>
        </p:spPr>
      </p:pic>
      <p:sp>
        <p:nvSpPr>
          <p:cNvPr id="5159" name="Right Triangle 5142">
            <a:extLst>
              <a:ext uri="{FF2B5EF4-FFF2-40B4-BE49-F238E27FC236}">
                <a16:creationId xmlns:a16="http://schemas.microsoft.com/office/drawing/2014/main" id="{569BABC0-B0CC-4E7B-838A-F6E644779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42224" y="1569583"/>
            <a:ext cx="1399032" cy="115062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60" name="Right Triangle 5144">
            <a:extLst>
              <a:ext uri="{FF2B5EF4-FFF2-40B4-BE49-F238E27FC236}">
                <a16:creationId xmlns:a16="http://schemas.microsoft.com/office/drawing/2014/main" id="{BE7E1DAA-43FB-4446-A354-9283DE668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64669" y="3250084"/>
            <a:ext cx="1911096" cy="1100751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Espaço Reservado para Conteúdo 7" descr="Forma, Círculo&#10;&#10;Descrição gerada automaticamente">
            <a:extLst>
              <a:ext uri="{FF2B5EF4-FFF2-40B4-BE49-F238E27FC236}">
                <a16:creationId xmlns:a16="http://schemas.microsoft.com/office/drawing/2014/main" id="{56B95AC5-5D5D-3E20-A401-002F67536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642817" y="3009630"/>
            <a:ext cx="1562189" cy="1581964"/>
          </a:xfrm>
          <a:prstGeom prst="rect">
            <a:avLst/>
          </a:prstGeom>
        </p:spPr>
      </p:pic>
      <p:sp>
        <p:nvSpPr>
          <p:cNvPr id="5161" name="Rectangle 5146">
            <a:extLst>
              <a:ext uri="{FF2B5EF4-FFF2-40B4-BE49-F238E27FC236}">
                <a16:creationId xmlns:a16="http://schemas.microsoft.com/office/drawing/2014/main" id="{99FE99BC-5F7D-47C3-AA1E-16D7DBDBD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6605" y="2841337"/>
            <a:ext cx="278985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C1DFA7B-7E08-2C13-6E03-F0932FB97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2068" y="2994562"/>
            <a:ext cx="1558928" cy="155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62" name="Right Triangle 5148">
            <a:extLst>
              <a:ext uri="{FF2B5EF4-FFF2-40B4-BE49-F238E27FC236}">
                <a16:creationId xmlns:a16="http://schemas.microsoft.com/office/drawing/2014/main" id="{27400BAF-FCE6-4296-8A0E-9B595ADC0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432800" y="4724529"/>
            <a:ext cx="325600" cy="406635"/>
          </a:xfrm>
          <a:prstGeom prst="rtTriangle">
            <a:avLst/>
          </a:prstGeom>
          <a:solidFill>
            <a:srgbClr val="CF8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1" name="Right Triangle 5150">
            <a:extLst>
              <a:ext uri="{FF2B5EF4-FFF2-40B4-BE49-F238E27FC236}">
                <a16:creationId xmlns:a16="http://schemas.microsoft.com/office/drawing/2014/main" id="{F2FC5C7B-261A-4268-BA85-C29488A8B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6496" y="2804968"/>
            <a:ext cx="1911096" cy="1980472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149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B280AA5-DFEF-9B59-8A93-97AA144F18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BF6106-D99D-DE6E-B3CE-F933F5C1099B}"/>
              </a:ext>
            </a:extLst>
          </p:cNvPr>
          <p:cNvSpPr txBox="1"/>
          <p:nvPr/>
        </p:nvSpPr>
        <p:spPr>
          <a:xfrm>
            <a:off x="995352" y="4755945"/>
            <a:ext cx="2151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Obrigada!</a:t>
            </a:r>
            <a:endParaRPr lang="pt-BR" dirty="0"/>
          </a:p>
        </p:txBody>
      </p:sp>
      <p:pic>
        <p:nvPicPr>
          <p:cNvPr id="5" name="Imagem 4" descr="Diagrama&#10;&#10;Descrição gerada automaticamente com confiança baixa">
            <a:extLst>
              <a:ext uri="{FF2B5EF4-FFF2-40B4-BE49-F238E27FC236}">
                <a16:creationId xmlns:a16="http://schemas.microsoft.com/office/drawing/2014/main" id="{E81B2B7A-6ACA-DD70-ABC1-AA71E6715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56" y="2247138"/>
            <a:ext cx="2363724" cy="236372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94243D2-E4E5-997A-ED01-6AE247E8E1CC}"/>
              </a:ext>
            </a:extLst>
          </p:cNvPr>
          <p:cNvSpPr txBox="1"/>
          <p:nvPr/>
        </p:nvSpPr>
        <p:spPr>
          <a:xfrm>
            <a:off x="985838" y="1178725"/>
            <a:ext cx="393344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Luciana</a:t>
            </a:r>
            <a:r>
              <a:rPr lang="pt-BR" sz="1600" dirty="0"/>
              <a:t> Gomes</a:t>
            </a:r>
          </a:p>
          <a:p>
            <a:r>
              <a:rPr lang="pt-BR" sz="2000" dirty="0">
                <a:hlinkClick r:id="rId4"/>
              </a:rPr>
              <a:t>lucianaleal@servidor.uepb.edu.br</a:t>
            </a:r>
            <a:endParaRPr lang="pt-BR" sz="2000" dirty="0"/>
          </a:p>
          <a:p>
            <a:r>
              <a:rPr lang="pt-BR" sz="2000" b="1" dirty="0"/>
              <a:t>@mnc.uepb</a:t>
            </a:r>
          </a:p>
        </p:txBody>
      </p:sp>
    </p:spTree>
    <p:extLst>
      <p:ext uri="{BB962C8B-B14F-4D97-AF65-F5344CB8AC3E}">
        <p14:creationId xmlns:p14="http://schemas.microsoft.com/office/powerpoint/2010/main" val="3019097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3340DB91-BB60-0383-55F8-F64F2BC45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998F097-8094-599D-BB53-E04136F6C507}"/>
              </a:ext>
            </a:extLst>
          </p:cNvPr>
          <p:cNvSpPr txBox="1"/>
          <p:nvPr/>
        </p:nvSpPr>
        <p:spPr>
          <a:xfrm>
            <a:off x="0" y="6858000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www.informasus.ufscar.br/tags/canal-de-duvidas/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nc-sa/3.0/"/>
              </a:rPr>
              <a:t>CC BY-SA-NC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18667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277</TotalTime>
  <Words>305</Words>
  <Application>Microsoft Office PowerPoint</Application>
  <PresentationFormat>Widescreen</PresentationFormat>
  <Paragraphs>54</Paragraphs>
  <Slides>22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Inter</vt:lpstr>
      <vt:lpstr>Meiryo</vt:lpstr>
      <vt:lpstr>Aptos</vt:lpstr>
      <vt:lpstr>Aptos Display</vt:lpstr>
      <vt:lpstr>Arial</vt:lpstr>
      <vt:lpstr>Calibri</vt:lpstr>
      <vt:lpstr>Tema do Office</vt:lpstr>
      <vt:lpstr>Mulheres na Tecnologia: O poder do incentivo para transformar carreiras</vt:lpstr>
      <vt:lpstr>Apresentação do PowerPoint</vt:lpstr>
      <vt:lpstr>Apresentação do PowerPoint</vt:lpstr>
      <vt:lpstr>Apresentação do PowerPoint</vt:lpstr>
      <vt:lpstr>Presença da Mulher na Tecnologia</vt:lpstr>
      <vt:lpstr>Apresentação do PowerPoint</vt:lpstr>
      <vt:lpstr>Apresentação do PowerPoint</vt:lpstr>
      <vt:lpstr>Em 1970 70% </vt:lpstr>
      <vt:lpstr>Hoje  </vt:lpstr>
      <vt:lpstr>25% da força de trabalho da indústria digital </vt:lpstr>
      <vt:lpstr>Falta de representatividade</vt:lpstr>
      <vt:lpstr>Apresentação do PowerPoint</vt:lpstr>
      <vt:lpstr>Apresentação do PowerPoint</vt:lpstr>
      <vt:lpstr>Apresentação do PowerPoint</vt:lpstr>
      <vt:lpstr>Apresentação do PowerPoint</vt:lpstr>
      <vt:lpstr>NINA DA HORA  Mulheres que superaram essas barreiras</vt:lpstr>
      <vt:lpstr>CAMILA ACHUTTI   Mulheres que superaram essas barreiras</vt:lpstr>
      <vt:lpstr>Por que deveríamos ter mais mulheres?</vt:lpstr>
      <vt:lpstr>Por que deveríamos ter mais mulheres?</vt:lpstr>
      <vt:lpstr>Redes de apoio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Luciana Leal</dc:creator>
  <cp:lastModifiedBy>Luciana Leal</cp:lastModifiedBy>
  <cp:revision>3</cp:revision>
  <dcterms:created xsi:type="dcterms:W3CDTF">2024-09-09T13:11:16Z</dcterms:created>
  <dcterms:modified xsi:type="dcterms:W3CDTF">2025-05-02T13:27:34Z</dcterms:modified>
</cp:coreProperties>
</file>