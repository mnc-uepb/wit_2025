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0" r:id="rId4"/>
    <p:sldId id="262" r:id="rId5"/>
    <p:sldId id="261" r:id="rId6"/>
    <p:sldId id="263" r:id="rId7"/>
    <p:sldId id="257" r:id="rId8"/>
    <p:sldId id="258" r:id="rId9"/>
    <p:sldId id="272" r:id="rId10"/>
    <p:sldId id="265" r:id="rId11"/>
    <p:sldId id="266" r:id="rId12"/>
    <p:sldId id="267" r:id="rId13"/>
    <p:sldId id="269" r:id="rId14"/>
    <p:sldId id="271" r:id="rId15"/>
    <p:sldId id="268" r:id="rId16"/>
    <p:sldId id="273" r:id="rId17"/>
    <p:sldId id="274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24FD28-E6FA-48A2-A41D-07E547914264}" v="5" dt="2024-09-09T14:48:51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EDA52-BE0F-46B6-B3CB-05C0A0666E6C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336CF-DDBB-478D-8B97-3E6A7FA847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572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36CF-DDBB-478D-8B97-3E6A7FA8475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641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36CF-DDBB-478D-8B97-3E6A7FA8475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4852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36CF-DDBB-478D-8B97-3E6A7FA8475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057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36CF-DDBB-478D-8B97-3E6A7FA8475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635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EF0A8-E2CF-44B5-C75A-106982843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D312FC-BC90-6992-163F-67BAFB3C0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01ABA2-64BF-F25E-A342-4A4D8D1F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02CD93-2BE8-1812-46A7-C0248457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6E716B-812A-F38E-4467-39E2D14C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0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26FE4-F858-1BC1-DCAE-24EB85B5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E3145A-40E3-A7C8-DF48-464D63A9B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4FC38F-7331-77F7-7D47-7E1E9A10D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D99D11-88E0-F49F-47D5-9D7ECB12F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0998E4-83A2-D1AC-9FDC-A4CC0037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96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55B4B-B527-EEE4-F95B-76AE6410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B6F109-3167-7FE8-5CB8-54CDCFD55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B09D6A-097A-4C40-1406-BFCC944F4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04C489-CCDC-AC61-B4C2-F90E307E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67708-5903-EB92-072A-7C2EBF1E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980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25641-BC73-E153-9ED7-8A064770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E2DC44-9294-8260-BF04-EED570C4A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168646-27A0-CF14-72D9-F21834886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DE1AB8-10D4-BDDD-402E-0C6B06387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2AFB28-DA3C-2C08-7267-9396F65B9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78415B-AB9F-183B-673A-22AA6D4B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6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F1356-6A0A-C61F-AFAA-6F060844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5AE742-3EF7-8B69-CFAF-1AAE6E39A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B8E176-DF6D-4DDA-AB90-0BAA56D10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86D99B-A4F8-F818-B7FE-DD66304F9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F469CD-679F-508F-5CA3-056BBFF83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4EBB00E-3B8C-D4E0-35D7-879238D3D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E4EACEA-F677-1BAE-75B7-55A82E804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ADA10FF-E0E2-2D1F-BD5F-D30948F7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07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C65CF-CE71-F7FD-DB46-6D44A3AA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8928F52-3BF1-23CC-C922-BEB72705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5BF225-7289-C0EB-7BDB-3F26611E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317A00F-1697-60F9-8400-074A7050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03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28422F-C7B1-2C01-92F0-FF377344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178ECF6-80D2-ADC9-39C2-8D3C9607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28BFF2-858C-6EC7-61DB-6AD6A17B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403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9F23A-AB68-952A-7B59-2275CE49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5E6739-0859-53D4-40D2-BA8ABE429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302738-7B0F-5965-E89F-517AC405B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4ECF38-8061-A1C4-B33D-718C7309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18F002-4F57-E7D2-892C-0DED1B2A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22912A-6A43-136B-AFA0-F00CE615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7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8519B-F3C1-560B-DFAF-5A9807D3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32EE19-A2B1-DB3E-CFAF-9ADE851F1E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AEC1C6-0DE7-3EA3-8B41-999BCF038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9F2B88-205B-4B1D-FB3F-954F77DA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551AB4-8568-B967-EDF6-520773D5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FCC5E1-D185-5A04-9A8D-EDDB9D556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804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28CB7-9F4A-E40A-7C02-AE90D3051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F9C2B2-4E36-04AB-1B67-8FF1C7FC2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C96932-86E0-D887-3E1A-75FCC423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B1222F-29A0-639F-332E-20964244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C01444-7482-DF5F-F4FD-1EAFB656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69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862791-79B3-2AC8-7E80-EA716DFA3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8C6424-5C6B-16AA-F02F-15DD29E55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7AA40D-86D9-6547-3A1B-94155D80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999B04-0921-37CC-9CB5-05BF3918C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934DCE-5668-7E0E-26FA-45C086EB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6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571B13-962B-589C-B427-360ED658D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9E63B1-43E9-13A3-DE7F-2577E6BAE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C09EF2-095F-CE81-45C6-92306F37D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47163-8959-4630-8FEF-EFAEAF673A40}" type="datetimeFigureOut">
              <a:rPr lang="pt-BR" smtClean="0"/>
              <a:t>09/09/2024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72F8F4-2344-48A6-DB50-7E3C5B961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355906-3758-AD8A-0D8E-ED842EDB5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87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GiWyIkJvHw?feature=oembed" TargetMode="Externa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ujeresenlahistoria.com/2011/01/la-encantadora-de-numeros-ada-lovelace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nchisesbr.blogspot.com/2015/03/cyber-cultura-grandes-mulheres-do-mundo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ww.contraocorodoscontentes.com.br/2018/03/computacao-ja-foi-e-precisa-voltar-a-ser-coisa-de-mulher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cielo.org/blog/2017/05/10/persistem-as-disparidades-de-genero-na-ciencia-a-despeito-dos-significativos-avancos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.wikimedia.org/wiki/Gender_gap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://www.new-educ.com/%D9%85%D9%86-%D8%B9%D9%84%D9%85-%D8%A7%D9%84%D8%AA%D8%B9%D9%84%D9%8A%D9%85-%D8%A5%D9%84%D9%89-%D8%B9%D9%84%D9%85-%D8%A7%D9%84%D8%AA%D8%B9%D9%84%D9%8A%D9%85-%D9%88-%D8%A7%D9%84%D8%AA%D8%B9%D9%84%D9%85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0fajarpurnama0.github.io/bachelor/2020/09/09/my-opinion-regarding-hard-skills-and-soft-skills-when-i-was-an-undergraduate-student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lepyd.org/pages/resources.html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3FD1AB-0D4E-BCDC-E841-AE74AAC7C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pt-BR" sz="7200" b="1" dirty="0">
                <a:solidFill>
                  <a:srgbClr val="FFFFFF"/>
                </a:solidFill>
              </a:rPr>
              <a:t>Desafios</a:t>
            </a:r>
            <a:r>
              <a:rPr lang="pt-BR" sz="7200" dirty="0">
                <a:solidFill>
                  <a:srgbClr val="FFFFFF"/>
                </a:solidFill>
              </a:rPr>
              <a:t> e </a:t>
            </a:r>
            <a:r>
              <a:rPr lang="pt-BR" sz="7200" b="1" dirty="0">
                <a:solidFill>
                  <a:srgbClr val="FFFFFF"/>
                </a:solidFill>
              </a:rPr>
              <a:t>Oportunidades</a:t>
            </a:r>
            <a:r>
              <a:rPr lang="pt-BR" sz="7200" dirty="0">
                <a:solidFill>
                  <a:srgbClr val="FFFFFF"/>
                </a:solidFill>
              </a:rPr>
              <a:t> para Mulheres na Tecnologia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A91070-A944-B46E-D8A5-8F0478136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FFFFFF"/>
                </a:solidFill>
              </a:rPr>
              <a:t>Luciana Gomes . Computação . </a:t>
            </a:r>
            <a:r>
              <a:rPr lang="pt-BR" b="1" dirty="0" err="1">
                <a:solidFill>
                  <a:srgbClr val="FFFFFF"/>
                </a:solidFill>
              </a:rPr>
              <a:t>mnc.uepb</a:t>
            </a:r>
            <a:endParaRPr lang="pt-BR" b="1" dirty="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Imagem 4" descr="Diagrama&#10;&#10;Descrição gerada automaticamente com confiança baixa">
            <a:extLst>
              <a:ext uri="{FF2B5EF4-FFF2-40B4-BE49-F238E27FC236}">
                <a16:creationId xmlns:a16="http://schemas.microsoft.com/office/drawing/2014/main" id="{6CE8181F-A3DD-3799-08DE-639C33603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64" y="3470458"/>
            <a:ext cx="2555414" cy="255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5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ídia Online 3" title="PretaLab">
            <a:hlinkClick r:id="" action="ppaction://media"/>
            <a:extLst>
              <a:ext uri="{FF2B5EF4-FFF2-40B4-BE49-F238E27FC236}">
                <a16:creationId xmlns:a16="http://schemas.microsoft.com/office/drawing/2014/main" id="{B40FF3E3-A7B5-B0E6-1BB1-27966C3847C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7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9B72A6-5BB9-500D-23C5-AB9FF3BE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Presença da Mulher na Tecnologia</a:t>
            </a:r>
          </a:p>
        </p:txBody>
      </p:sp>
      <p:pic>
        <p:nvPicPr>
          <p:cNvPr id="5" name="Imagem 4" descr="Uma imagem contendo Esquemático">
            <a:extLst>
              <a:ext uri="{FF2B5EF4-FFF2-40B4-BE49-F238E27FC236}">
                <a16:creationId xmlns:a16="http://schemas.microsoft.com/office/drawing/2014/main" id="{A57F2D5D-25FC-779F-0FF0-7BC671282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51380" y="1675227"/>
            <a:ext cx="9016957" cy="453102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CFB8A8C-3C06-E6A2-4739-BAA03544F34D}"/>
              </a:ext>
            </a:extLst>
          </p:cNvPr>
          <p:cNvSpPr txBox="1"/>
          <p:nvPr/>
        </p:nvSpPr>
        <p:spPr>
          <a:xfrm>
            <a:off x="7670776" y="5869371"/>
            <a:ext cx="279756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 dirty="0">
                <a:solidFill>
                  <a:srgbClr val="FFFFFF"/>
                </a:solidFill>
                <a:hlinkClick r:id="rId3" tooltip="https://www.mujeresenlahistoria.com/2011/01/la-encantadora-de-numeros-ada-lovelac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 dirty="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 dirty="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pt-BR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604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Foto em preto e branco de pessoas sentadas ao redor de um computador&#10;&#10;Descrição gerada automaticamente">
            <a:extLst>
              <a:ext uri="{FF2B5EF4-FFF2-40B4-BE49-F238E27FC236}">
                <a16:creationId xmlns:a16="http://schemas.microsoft.com/office/drawing/2014/main" id="{C3437610-5903-59A4-30C3-06CF2EE92E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7467"/>
          <a:stretch/>
        </p:blipFill>
        <p:spPr>
          <a:xfrm>
            <a:off x="3882570" y="10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3737881-458F-40AD-B72B-B57D267DC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2967126-346F-41EA-982D-63D8EBB60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BCD9601-1F44-4E40-998C-1B256DAE9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A1CA4E9-12FA-47EB-8471-25E8D55152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E13A9BF0-334C-4457-A635-9CA4877EAAF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F05821A-8598-44E4-A18C-538D5331E4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A4ECC81-E17F-4F87-9A0B-398363A86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4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1FBBD7D8-A895-40D0-A53D-DEDF495B2F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BA602493-BC70-48CF-BDBA-88A8662274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D2EA1F0F-B31A-68DA-DD8E-C524DB142D62}"/>
              </a:ext>
            </a:extLst>
          </p:cNvPr>
          <p:cNvSpPr txBox="1"/>
          <p:nvPr/>
        </p:nvSpPr>
        <p:spPr>
          <a:xfrm>
            <a:off x="9415279" y="6657945"/>
            <a:ext cx="277672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anchisesbr.blogspot.com/2015/03/cyber-cultura-grandes-mulheres-do-mundo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06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Foto editada de grupo de pessoas posando para foto&#10;&#10;Descrição gerada automaticamente">
            <a:extLst>
              <a:ext uri="{FF2B5EF4-FFF2-40B4-BE49-F238E27FC236}">
                <a16:creationId xmlns:a16="http://schemas.microsoft.com/office/drawing/2014/main" id="{88FB8DBB-6AE3-A973-04C9-733F5118B3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404" b="-1"/>
          <a:stretch/>
        </p:blipFill>
        <p:spPr>
          <a:xfrm>
            <a:off x="180975" y="166028"/>
            <a:ext cx="11823637" cy="64997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BD4B368-7DE0-0C27-7A93-3D1590FD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368032"/>
            <a:ext cx="10165218" cy="28065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Em 1970</a:t>
            </a:r>
            <a:br>
              <a:rPr lang="en-US" sz="11500" b="1" dirty="0">
                <a:solidFill>
                  <a:srgbClr val="FFFFFF"/>
                </a:solidFill>
              </a:rPr>
            </a:br>
            <a:r>
              <a:rPr lang="en-US" sz="11500" b="1" dirty="0">
                <a:solidFill>
                  <a:srgbClr val="FFFFFF"/>
                </a:solidFill>
              </a:rPr>
              <a:t>70%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706CAF-D158-0FDF-34F4-EC2A096A74B2}"/>
              </a:ext>
            </a:extLst>
          </p:cNvPr>
          <p:cNvSpPr txBox="1"/>
          <p:nvPr/>
        </p:nvSpPr>
        <p:spPr>
          <a:xfrm>
            <a:off x="9207051" y="6482609"/>
            <a:ext cx="279756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4" tooltip="https://www.contraocorodoscontentes.com.br/2018/03/computacao-ja-foi-e-precisa-voltar-a-ser-coisa-de-mulhe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5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pt-BR" sz="700">
              <a:solidFill>
                <a:srgbClr val="FFFFFF"/>
              </a:solidFill>
            </a:endParaRPr>
          </a:p>
        </p:txBody>
      </p:sp>
      <p:pic>
        <p:nvPicPr>
          <p:cNvPr id="17" name="Gráfico 16" descr="Mulher com preenchimento sólido">
            <a:extLst>
              <a:ext uri="{FF2B5EF4-FFF2-40B4-BE49-F238E27FC236}">
                <a16:creationId xmlns:a16="http://schemas.microsoft.com/office/drawing/2014/main" id="{C59FF8D2-9B9E-01F9-5173-5E663855B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9946" y="1595432"/>
            <a:ext cx="1119192" cy="111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5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3AAE0-4C6B-6E96-017D-6291BA713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4498" y="3317618"/>
            <a:ext cx="2844114" cy="1325563"/>
          </a:xfrm>
        </p:spPr>
        <p:txBody>
          <a:bodyPr>
            <a:normAutofit fontScale="90000"/>
          </a:bodyPr>
          <a:lstStyle/>
          <a:p>
            <a:r>
              <a:rPr lang="pt-BR" sz="7300" b="1" dirty="0"/>
              <a:t>25% </a:t>
            </a:r>
            <a:r>
              <a:rPr lang="pt-BR" dirty="0"/>
              <a:t>da força de trabalho da indústria digital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F13168A-3EA8-3ED4-727B-FE9713D60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41" y="1985211"/>
            <a:ext cx="8735644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0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B5F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418F73-9F7F-3361-574D-ABB80C727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Hoje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5F7BFF1-D2EB-3E1B-2124-2198AA025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35" y="592031"/>
            <a:ext cx="4104881" cy="536585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4E5ABBF-BBBB-E72D-5408-104357AE5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489" y="3415141"/>
            <a:ext cx="3782334" cy="3137007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65E4126-0293-0D3F-BE6F-73572DDA9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216" y="209230"/>
            <a:ext cx="4104881" cy="3223355"/>
          </a:xfrm>
          <a:prstGeom prst="rect">
            <a:avLst/>
          </a:prstGeom>
        </p:spPr>
      </p:pic>
      <p:pic>
        <p:nvPicPr>
          <p:cNvPr id="29" name="Gráfico 28" descr="Masculino com preenchimento sólido">
            <a:extLst>
              <a:ext uri="{FF2B5EF4-FFF2-40B4-BE49-F238E27FC236}">
                <a16:creationId xmlns:a16="http://schemas.microsoft.com/office/drawing/2014/main" id="{A1E6D260-55CC-97A3-6991-E0D913528E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2852" y="332087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42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6E651BF-B24D-4127-88B5-3AC618B9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FC5CC0-3335-97A3-2877-4EF5A102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505" y="893763"/>
            <a:ext cx="4691478" cy="1587444"/>
          </a:xfrm>
        </p:spPr>
        <p:txBody>
          <a:bodyPr anchor="b">
            <a:normAutofit/>
          </a:bodyPr>
          <a:lstStyle/>
          <a:p>
            <a:r>
              <a:rPr lang="pt-BR" sz="2800" b="1" dirty="0"/>
              <a:t>Falta de representatividade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B2C9BB9-7DF9-4D08-B7E0-4CB6680D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909" y="893763"/>
            <a:ext cx="5176299" cy="501405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5875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3F72633-640B-48E7-9797-C725489AF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962" y="1060885"/>
            <a:ext cx="4906732" cy="4679812"/>
          </a:xfrm>
          <a:custGeom>
            <a:avLst/>
            <a:gdLst>
              <a:gd name="connsiteX0" fmla="*/ 2807999 w 4906732"/>
              <a:gd name="connsiteY0" fmla="*/ 0 h 4679812"/>
              <a:gd name="connsiteX1" fmla="*/ 3690684 w 4906732"/>
              <a:gd name="connsiteY1" fmla="*/ 186911 h 4679812"/>
              <a:gd name="connsiteX2" fmla="*/ 4334455 w 4906732"/>
              <a:gd name="connsiteY2" fmla="*/ 691216 h 4679812"/>
              <a:gd name="connsiteX3" fmla="*/ 4906732 w 4906732"/>
              <a:gd name="connsiteY3" fmla="*/ 2477497 h 4679812"/>
              <a:gd name="connsiteX4" fmla="*/ 4651814 w 4906732"/>
              <a:gd name="connsiteY4" fmla="*/ 3210070 h 4679812"/>
              <a:gd name="connsiteX5" fmla="*/ 3897062 w 4906732"/>
              <a:gd name="connsiteY5" fmla="*/ 3892202 h 4679812"/>
              <a:gd name="connsiteX6" fmla="*/ 3731118 w 4906732"/>
              <a:gd name="connsiteY6" fmla="*/ 4022687 h 4679812"/>
              <a:gd name="connsiteX7" fmla="*/ 2367551 w 4906732"/>
              <a:gd name="connsiteY7" fmla="*/ 4679812 h 4679812"/>
              <a:gd name="connsiteX8" fmla="*/ 665643 w 4906732"/>
              <a:gd name="connsiteY8" fmla="*/ 3747056 h 4679812"/>
              <a:gd name="connsiteX9" fmla="*/ 571329 w 4906732"/>
              <a:gd name="connsiteY9" fmla="*/ 3611676 h 4679812"/>
              <a:gd name="connsiteX10" fmla="*/ 379903 w 4906732"/>
              <a:gd name="connsiteY10" fmla="*/ 3338417 h 4679812"/>
              <a:gd name="connsiteX11" fmla="*/ 5800 w 4906732"/>
              <a:gd name="connsiteY11" fmla="*/ 2591152 h 4679812"/>
              <a:gd name="connsiteX12" fmla="*/ 0 w 4906732"/>
              <a:gd name="connsiteY12" fmla="*/ 2477497 h 4679812"/>
              <a:gd name="connsiteX13" fmla="*/ 229543 w 4906732"/>
              <a:gd name="connsiteY13" fmla="*/ 1550320 h 4679812"/>
              <a:gd name="connsiteX14" fmla="*/ 862575 w 4906732"/>
              <a:gd name="connsiteY14" fmla="*/ 753626 h 4679812"/>
              <a:gd name="connsiteX15" fmla="*/ 1777796 w 4906732"/>
              <a:gd name="connsiteY15" fmla="*/ 201123 h 4679812"/>
              <a:gd name="connsiteX16" fmla="*/ 2807999 w 4906732"/>
              <a:gd name="connsiteY16" fmla="*/ 0 h 4679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906732" h="4679812">
                <a:moveTo>
                  <a:pt x="2807999" y="0"/>
                </a:moveTo>
                <a:cubicBezTo>
                  <a:pt x="3130622" y="0"/>
                  <a:pt x="3427552" y="62945"/>
                  <a:pt x="3690684" y="186911"/>
                </a:cubicBezTo>
                <a:cubicBezTo>
                  <a:pt x="3937285" y="303182"/>
                  <a:pt x="4153876" y="472887"/>
                  <a:pt x="4334455" y="691216"/>
                </a:cubicBezTo>
                <a:cubicBezTo>
                  <a:pt x="4703514" y="1137598"/>
                  <a:pt x="4906732" y="1771961"/>
                  <a:pt x="4906732" y="2477497"/>
                </a:cubicBezTo>
                <a:cubicBezTo>
                  <a:pt x="4906732" y="2758986"/>
                  <a:pt x="4828077" y="2984902"/>
                  <a:pt x="4651814" y="3210070"/>
                </a:cubicBezTo>
                <a:cubicBezTo>
                  <a:pt x="4467443" y="3445606"/>
                  <a:pt x="4190412" y="3662546"/>
                  <a:pt x="3897062" y="3892202"/>
                </a:cubicBezTo>
                <a:cubicBezTo>
                  <a:pt x="3842940" y="3934522"/>
                  <a:pt x="3787028" y="3978338"/>
                  <a:pt x="3731118" y="4022687"/>
                </a:cubicBezTo>
                <a:cubicBezTo>
                  <a:pt x="3230651" y="4419592"/>
                  <a:pt x="2865384" y="4679812"/>
                  <a:pt x="2367551" y="4679812"/>
                </a:cubicBezTo>
                <a:cubicBezTo>
                  <a:pt x="1656416" y="4679812"/>
                  <a:pt x="1139812" y="4399068"/>
                  <a:pt x="665643" y="3747056"/>
                </a:cubicBezTo>
                <a:cubicBezTo>
                  <a:pt x="634031" y="3703588"/>
                  <a:pt x="602608" y="3658471"/>
                  <a:pt x="571329" y="3611676"/>
                </a:cubicBezTo>
                <a:cubicBezTo>
                  <a:pt x="505836" y="3513679"/>
                  <a:pt x="441816" y="3424553"/>
                  <a:pt x="379903" y="3338417"/>
                </a:cubicBezTo>
                <a:cubicBezTo>
                  <a:pt x="155376" y="3025912"/>
                  <a:pt x="32908" y="2844646"/>
                  <a:pt x="5800" y="2591152"/>
                </a:cubicBezTo>
                <a:cubicBezTo>
                  <a:pt x="1927" y="2554939"/>
                  <a:pt x="0" y="2517252"/>
                  <a:pt x="0" y="2477497"/>
                </a:cubicBezTo>
                <a:cubicBezTo>
                  <a:pt x="0" y="2161706"/>
                  <a:pt x="77286" y="1849760"/>
                  <a:pt x="229543" y="1550320"/>
                </a:cubicBezTo>
                <a:cubicBezTo>
                  <a:pt x="378535" y="1257397"/>
                  <a:pt x="591545" y="989269"/>
                  <a:pt x="862575" y="753626"/>
                </a:cubicBezTo>
                <a:cubicBezTo>
                  <a:pt x="1128970" y="521938"/>
                  <a:pt x="1445380" y="330861"/>
                  <a:pt x="1777796" y="201123"/>
                </a:cubicBezTo>
                <a:cubicBezTo>
                  <a:pt x="2119161" y="67648"/>
                  <a:pt x="2465896" y="0"/>
                  <a:pt x="2807999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Espaço Reservado para Conteúdo 10" descr="Gráfico&#10;&#10;Descrição gerada automaticamente com confiança baixa">
            <a:extLst>
              <a:ext uri="{FF2B5EF4-FFF2-40B4-BE49-F238E27FC236}">
                <a16:creationId xmlns:a16="http://schemas.microsoft.com/office/drawing/2014/main" id="{FA190438-CD4E-52EB-F46A-B6B49B6D6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3218" r="4278" b="2"/>
          <a:stretch/>
        </p:blipFill>
        <p:spPr>
          <a:xfrm>
            <a:off x="1700213" y="1710364"/>
            <a:ext cx="3245990" cy="2686132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F76AE27-45BF-3DFF-D9B5-BDBD25888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506" y="2721030"/>
            <a:ext cx="4691478" cy="3243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 err="1"/>
              <a:t>Dilema</a:t>
            </a:r>
            <a:r>
              <a:rPr lang="en-US" sz="4800" dirty="0"/>
              <a:t> </a:t>
            </a:r>
            <a:r>
              <a:rPr lang="en-US" sz="4800" dirty="0" err="1"/>
              <a:t>Tostines</a:t>
            </a:r>
            <a:r>
              <a:rPr lang="en-US" sz="4800" dirty="0"/>
              <a:t> da Mulher </a:t>
            </a:r>
            <a:r>
              <a:rPr lang="en-US" sz="4800" dirty="0" err="1"/>
              <a:t>na</a:t>
            </a:r>
            <a:r>
              <a:rPr lang="en-US" sz="4800" dirty="0"/>
              <a:t> </a:t>
            </a:r>
            <a:r>
              <a:rPr lang="en-US" sz="4800" dirty="0" err="1"/>
              <a:t>Tecnologia</a:t>
            </a:r>
            <a:endParaRPr lang="en-US" sz="48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9997FD6-60FF-73DB-7DEB-C1E721D5F9C5}"/>
              </a:ext>
            </a:extLst>
          </p:cNvPr>
          <p:cNvSpPr txBox="1"/>
          <p:nvPr/>
        </p:nvSpPr>
        <p:spPr>
          <a:xfrm>
            <a:off x="2272283" y="4196440"/>
            <a:ext cx="236795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blog.scielo.org/blog/2017/05/10/persistem-as-disparidades-de-genero-na-ciencia-a-despeito-dos-significativos-avanco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 Foto</a:t>
            </a:r>
            <a:r>
              <a:rPr lang="pt-BR" sz="700">
                <a:solidFill>
                  <a:srgbClr val="FFFFFF"/>
                </a:solidFill>
              </a:rPr>
              <a:t> e </a:t>
            </a:r>
            <a:r>
              <a:rPr lang="pt-BR" sz="700" err="1">
                <a:solidFill>
                  <a:srgbClr val="FFFFFF"/>
                </a:solidFill>
              </a:rPr>
              <a:t>AutorDesconhecido</a:t>
            </a:r>
            <a:r>
              <a:rPr lang="pt-BR" sz="700">
                <a:solidFill>
                  <a:srgbClr val="FFFFFF"/>
                </a:solidFill>
              </a:rPr>
              <a:t> está licenciado em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560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4245EB-837E-19B3-598F-3F1884842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780" y="4392013"/>
            <a:ext cx="8932133" cy="1819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0" i="0" dirty="0">
                <a:solidFill>
                  <a:srgbClr val="212529"/>
                </a:solidFill>
                <a:effectLst/>
                <a:latin typeface="Inter"/>
              </a:rPr>
              <a:t>Ainda serão necessários </a:t>
            </a:r>
            <a:r>
              <a:rPr lang="pt-BR" sz="4400" b="0" i="0" dirty="0">
                <a:solidFill>
                  <a:srgbClr val="212529"/>
                </a:solidFill>
                <a:effectLst/>
                <a:latin typeface="Inter"/>
              </a:rPr>
              <a:t>131 anos </a:t>
            </a:r>
            <a:r>
              <a:rPr lang="pt-BR" sz="3600" b="0" i="0" dirty="0">
                <a:solidFill>
                  <a:srgbClr val="212529"/>
                </a:solidFill>
                <a:effectLst/>
                <a:latin typeface="Inter"/>
              </a:rPr>
              <a:t>para que o mercado de trabalho alcance o equilíbrio entre </a:t>
            </a:r>
            <a:r>
              <a:rPr lang="pt-BR" sz="4400" b="0" i="0" dirty="0">
                <a:solidFill>
                  <a:srgbClr val="212529"/>
                </a:solidFill>
                <a:effectLst/>
                <a:latin typeface="Inter"/>
              </a:rPr>
              <a:t>homens</a:t>
            </a:r>
            <a:r>
              <a:rPr lang="pt-BR" sz="3600" b="0" i="0" dirty="0">
                <a:solidFill>
                  <a:srgbClr val="212529"/>
                </a:solidFill>
                <a:effectLst/>
                <a:latin typeface="Inter"/>
              </a:rPr>
              <a:t> e </a:t>
            </a:r>
            <a:r>
              <a:rPr lang="pt-BR" sz="4400" b="1" i="0" dirty="0">
                <a:solidFill>
                  <a:srgbClr val="212529"/>
                </a:solidFill>
                <a:effectLst/>
                <a:latin typeface="Inter"/>
              </a:rPr>
              <a:t>mulheres</a:t>
            </a:r>
            <a:r>
              <a:rPr lang="pt-BR" sz="3600" b="0" i="0" dirty="0">
                <a:solidFill>
                  <a:srgbClr val="212529"/>
                </a:solidFill>
                <a:effectLst/>
                <a:latin typeface="Inter"/>
              </a:rPr>
              <a:t>.</a:t>
            </a:r>
            <a:endParaRPr lang="pt-BR" sz="3600" dirty="0"/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B1216CE1-372D-4F91-DFC1-53C9B60D5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31705" y="646369"/>
            <a:ext cx="3128589" cy="342059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72F4636-7AB5-9105-7338-62913E9A99E5}"/>
              </a:ext>
            </a:extLst>
          </p:cNvPr>
          <p:cNvSpPr txBox="1"/>
          <p:nvPr/>
        </p:nvSpPr>
        <p:spPr>
          <a:xfrm>
            <a:off x="4317332" y="7347206"/>
            <a:ext cx="2571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3" tooltip="https://meta.wikimedia.org/wiki/Gender_gap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4" tooltip="https://creativecommons.org/licenses/by-sa/3.0/"/>
              </a:rPr>
              <a:t>CC BY-SA</a:t>
            </a:r>
            <a:endParaRPr lang="pt-BR" sz="900"/>
          </a:p>
        </p:txBody>
      </p:sp>
    </p:spTree>
    <p:extLst>
      <p:ext uri="{BB962C8B-B14F-4D97-AF65-F5344CB8AC3E}">
        <p14:creationId xmlns:p14="http://schemas.microsoft.com/office/powerpoint/2010/main" val="38438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470461E-4941-5C0E-62D3-B0088E7968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28812" y="28485"/>
            <a:ext cx="8072437" cy="680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766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0D984E-FF2F-D01A-0BFC-D6EB1463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0407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1" dirty="0"/>
              <a:t>NINA DA HORA</a:t>
            </a:r>
            <a:br>
              <a:rPr lang="en-US" sz="4800" b="1" dirty="0"/>
            </a:br>
            <a:br>
              <a:rPr lang="en-US" sz="2800" dirty="0"/>
            </a:br>
            <a:r>
              <a:rPr lang="en-US" sz="2800" dirty="0" err="1"/>
              <a:t>Mulheres</a:t>
            </a:r>
            <a:r>
              <a:rPr lang="en-US" sz="2800" dirty="0"/>
              <a:t> que </a:t>
            </a:r>
            <a:r>
              <a:rPr lang="en-US" sz="2800" dirty="0" err="1"/>
              <a:t>superaram</a:t>
            </a:r>
            <a:r>
              <a:rPr lang="en-US" sz="2800" dirty="0"/>
              <a:t> </a:t>
            </a:r>
            <a:r>
              <a:rPr lang="en-US" sz="2800" dirty="0" err="1"/>
              <a:t>essas</a:t>
            </a:r>
            <a:r>
              <a:rPr lang="en-US" sz="2800" dirty="0"/>
              <a:t> </a:t>
            </a:r>
            <a:r>
              <a:rPr lang="en-US" sz="2800" dirty="0" err="1"/>
              <a:t>barreiras</a:t>
            </a:r>
            <a:endParaRPr lang="en-US" sz="2800" dirty="0"/>
          </a:p>
        </p:txBody>
      </p:sp>
      <p:pic>
        <p:nvPicPr>
          <p:cNvPr id="3074" name="Picture 2" descr="Nina da Hora - Ford Foundation">
            <a:extLst>
              <a:ext uri="{FF2B5EF4-FFF2-40B4-BE49-F238E27FC236}">
                <a16:creationId xmlns:a16="http://schemas.microsoft.com/office/drawing/2014/main" id="{14F4BFFE-EE68-7812-D1C2-8759F2D46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928"/>
          <a:stretch/>
        </p:blipFill>
        <p:spPr bwMode="auto">
          <a:xfrm>
            <a:off x="20" y="10"/>
            <a:ext cx="69928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92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963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2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4119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07" name="Group 4106">
            <a:extLst>
              <a:ext uri="{FF2B5EF4-FFF2-40B4-BE49-F238E27FC236}">
                <a16:creationId xmlns:a16="http://schemas.microsoft.com/office/drawing/2014/main" id="{5D095D3E-C464-41D5-87FA-07742698A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4108" name="Color">
              <a:extLst>
                <a:ext uri="{FF2B5EF4-FFF2-40B4-BE49-F238E27FC236}">
                  <a16:creationId xmlns:a16="http://schemas.microsoft.com/office/drawing/2014/main" id="{7722DCE9-76F1-42AC-AC0A-487CFB087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09" name="Color">
              <a:extLst>
                <a:ext uri="{FF2B5EF4-FFF2-40B4-BE49-F238E27FC236}">
                  <a16:creationId xmlns:a16="http://schemas.microsoft.com/office/drawing/2014/main" id="{B29A5FA1-D0E7-448B-AB7D-032F01D5B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111" name="Color">
            <a:extLst>
              <a:ext uri="{FF2B5EF4-FFF2-40B4-BE49-F238E27FC236}">
                <a16:creationId xmlns:a16="http://schemas.microsoft.com/office/drawing/2014/main" id="{C58F402F-FDB5-409B-8818-B6FCE06E5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rgbClr val="FFEC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98" name="Picture 2" descr="Camila Achutti fala sobre preconceito e empreendedorismo na computação">
            <a:extLst>
              <a:ext uri="{FF2B5EF4-FFF2-40B4-BE49-F238E27FC236}">
                <a16:creationId xmlns:a16="http://schemas.microsoft.com/office/drawing/2014/main" id="{C0E59D7F-D9FC-5EEF-008D-76CF1B6E9E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7307" y="1190509"/>
            <a:ext cx="6711526" cy="446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13" name="Group 4112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114" name="Freeform: Shape 4113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5" name="Freeform: Shape 4114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6" name="Freeform: Shape 4115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7" name="Freeform: Shape 4116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8" name="Freeform: Shape 4117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9" name="Freeform: Shape 4118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20" name="Freeform: Shape 4119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B3B1274-730E-8933-16C0-C6FA10EA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80" y="2686976"/>
            <a:ext cx="3585114" cy="278205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7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CAMILA ACHUTTI</a:t>
            </a:r>
            <a:br>
              <a:rPr lang="en-US" sz="5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5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Mulheres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que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superaram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essas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barreiras</a:t>
            </a:r>
            <a:endParaRPr lang="en-US" sz="2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884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m 23" descr="Diagrama&#10;&#10;Descrição gerada automaticamente">
            <a:extLst>
              <a:ext uri="{FF2B5EF4-FFF2-40B4-BE49-F238E27FC236}">
                <a16:creationId xmlns:a16="http://schemas.microsoft.com/office/drawing/2014/main" id="{4B49E014-CE13-290A-1EE4-B7F8EE027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986" r="16229" b="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5F0CED-B93F-7AC2-6D96-4B838E671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292" y="2434201"/>
            <a:ext cx="5135797" cy="1789553"/>
          </a:xfrm>
        </p:spPr>
        <p:txBody>
          <a:bodyPr>
            <a:normAutofit/>
          </a:bodyPr>
          <a:lstStyle/>
          <a:p>
            <a:pPr algn="r"/>
            <a:r>
              <a:rPr lang="pt-BR" b="1" dirty="0"/>
              <a:t>Oportunidades de Crescimento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2B01A3-7384-6D28-0911-B292976E2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3200" dirty="0"/>
          </a:p>
          <a:p>
            <a:pPr marL="0" indent="0">
              <a:buNone/>
            </a:pPr>
            <a:endParaRPr lang="pt-BR" sz="3200" dirty="0"/>
          </a:p>
          <a:p>
            <a:pPr marL="0" indent="0">
              <a:buNone/>
            </a:pPr>
            <a:endParaRPr lang="pt-BR" sz="3200" dirty="0"/>
          </a:p>
          <a:p>
            <a:pPr marL="0" indent="0" algn="r">
              <a:buNone/>
            </a:pPr>
            <a:r>
              <a:rPr lang="pt-BR" dirty="0"/>
              <a:t>Aprendizado contínuo</a:t>
            </a:r>
            <a:r>
              <a:rPr lang="pt-BR" sz="1800" dirty="0"/>
              <a:t> </a:t>
            </a:r>
            <a:r>
              <a:rPr lang="pt-BR" sz="2000" dirty="0"/>
              <a:t>e no ritmo de cada uma!</a:t>
            </a:r>
            <a:endParaRPr lang="pt-BR" sz="3200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BB90673-02E4-A9FD-CD2F-6E93B0DA298B}"/>
              </a:ext>
            </a:extLst>
          </p:cNvPr>
          <p:cNvSpPr txBox="1"/>
          <p:nvPr/>
        </p:nvSpPr>
        <p:spPr>
          <a:xfrm>
            <a:off x="6892922" y="6657945"/>
            <a:ext cx="277672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4" tooltip="http://www.new-educ.com/%D9%85%D9%86-%D8%B9%D9%84%D9%85-%D8%A7%D9%84%D8%AA%D8%B9%D9%84%D9%8A%D9%85-%D8%A5%D9%84%D9%89-%D8%B9%D9%84%D9%85-%D8%A7%D9%84%D8%AA%D8%B9%D9%84%D9%8A%D9%85-%D9%88-%D8%A7%D9%84%D8%AA%D8%B9%D9%84%D9%8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05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Espaço Reservado para Conteúdo 7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88440FF0-5AB2-FCE2-3E43-56DF93E1E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A1B3F52-4A73-341A-4FC9-49DFF2A1C144}"/>
              </a:ext>
            </a:extLst>
          </p:cNvPr>
          <p:cNvSpPr txBox="1"/>
          <p:nvPr/>
        </p:nvSpPr>
        <p:spPr>
          <a:xfrm>
            <a:off x="9572372" y="6657945"/>
            <a:ext cx="261962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0fajarpurnama0.github.io/bachelor/2020/09/09/my-opinion-regarding-hard-skills-and-soft-skills-when-i-was-an-undergraduate-stu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92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6A2AC-B31A-C3B8-D190-4FAFF735C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32" y="5200879"/>
            <a:ext cx="8082447" cy="8021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Redes de apoio</a:t>
            </a:r>
          </a:p>
        </p:txBody>
      </p:sp>
      <p:sp>
        <p:nvSpPr>
          <p:cNvPr id="5150" name="Rectangle 5126">
            <a:extLst>
              <a:ext uri="{FF2B5EF4-FFF2-40B4-BE49-F238E27FC236}">
                <a16:creationId xmlns:a16="http://schemas.microsoft.com/office/drawing/2014/main" id="{26882C51-76F9-4F99-997D-31FA6242A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126" y="629042"/>
            <a:ext cx="1217216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56B2CA0-A7F6-CAC5-2DAB-53278A19F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31" y="692331"/>
            <a:ext cx="693924" cy="732958"/>
          </a:xfrm>
          <a:prstGeom prst="rect">
            <a:avLst/>
          </a:prstGeom>
        </p:spPr>
      </p:pic>
      <p:sp>
        <p:nvSpPr>
          <p:cNvPr id="5152" name="Right Triangle 5128">
            <a:extLst>
              <a:ext uri="{FF2B5EF4-FFF2-40B4-BE49-F238E27FC236}">
                <a16:creationId xmlns:a16="http://schemas.microsoft.com/office/drawing/2014/main" id="{61FFFC16-86E2-4B9A-BC6D-213DC2654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31731" y="635538"/>
            <a:ext cx="680408" cy="84974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3" name="Right Triangle 5130">
            <a:extLst>
              <a:ext uri="{FF2B5EF4-FFF2-40B4-BE49-F238E27FC236}">
                <a16:creationId xmlns:a16="http://schemas.microsoft.com/office/drawing/2014/main" id="{D8350E6D-CBC9-4A26-B84F-7145FDC9F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90665" y="609601"/>
            <a:ext cx="680408" cy="84974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4" name="Freeform: Shape 5132">
            <a:extLst>
              <a:ext uri="{FF2B5EF4-FFF2-40B4-BE49-F238E27FC236}">
                <a16:creationId xmlns:a16="http://schemas.microsoft.com/office/drawing/2014/main" id="{DD3524E0-C87C-4F38-9FC7-E969C15A7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14143" y="991883"/>
            <a:ext cx="1371600" cy="2356777"/>
          </a:xfrm>
          <a:custGeom>
            <a:avLst/>
            <a:gdLst>
              <a:gd name="connsiteX0" fmla="*/ 0 w 1371600"/>
              <a:gd name="connsiteY0" fmla="*/ 0 h 2356777"/>
              <a:gd name="connsiteX1" fmla="*/ 0 w 1371600"/>
              <a:gd name="connsiteY1" fmla="*/ 1216152 h 2356777"/>
              <a:gd name="connsiteX2" fmla="*/ 4495 w 1371600"/>
              <a:gd name="connsiteY2" fmla="*/ 1216152 h 2356777"/>
              <a:gd name="connsiteX3" fmla="*/ 4495 w 1371600"/>
              <a:gd name="connsiteY3" fmla="*/ 2356777 h 2356777"/>
              <a:gd name="connsiteX4" fmla="*/ 1367105 w 1371600"/>
              <a:gd name="connsiteY4" fmla="*/ 2356777 h 2356777"/>
              <a:gd name="connsiteX5" fmla="*/ 1367105 w 1371600"/>
              <a:gd name="connsiteY5" fmla="*/ 1216152 h 2356777"/>
              <a:gd name="connsiteX6" fmla="*/ 1371600 w 1371600"/>
              <a:gd name="connsiteY6" fmla="*/ 1216152 h 2356777"/>
              <a:gd name="connsiteX7" fmla="*/ 1367105 w 1371600"/>
              <a:gd name="connsiteY7" fmla="*/ 1212166 h 2356777"/>
              <a:gd name="connsiteX8" fmla="*/ 1367105 w 1371600"/>
              <a:gd name="connsiteY8" fmla="*/ 1210176 h 2356777"/>
              <a:gd name="connsiteX9" fmla="*/ 1364860 w 1371600"/>
              <a:gd name="connsiteY9" fmla="*/ 1210176 h 235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71600" h="2356777">
                <a:moveTo>
                  <a:pt x="0" y="0"/>
                </a:moveTo>
                <a:lnTo>
                  <a:pt x="0" y="1216152"/>
                </a:lnTo>
                <a:lnTo>
                  <a:pt x="4495" y="1216152"/>
                </a:lnTo>
                <a:lnTo>
                  <a:pt x="4495" y="2356777"/>
                </a:lnTo>
                <a:lnTo>
                  <a:pt x="1367105" y="2356777"/>
                </a:lnTo>
                <a:lnTo>
                  <a:pt x="1367105" y="1216152"/>
                </a:lnTo>
                <a:lnTo>
                  <a:pt x="1371600" y="1216152"/>
                </a:lnTo>
                <a:lnTo>
                  <a:pt x="1367105" y="1212166"/>
                </a:lnTo>
                <a:lnTo>
                  <a:pt x="1367105" y="1210176"/>
                </a:lnTo>
                <a:lnTo>
                  <a:pt x="1364860" y="1210176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5" name="Right Triangle 5134">
            <a:extLst>
              <a:ext uri="{FF2B5EF4-FFF2-40B4-BE49-F238E27FC236}">
                <a16:creationId xmlns:a16="http://schemas.microsoft.com/office/drawing/2014/main" id="{F1ED1DF4-DDDE-4464-8ABC-ED1F633CC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5916" y="1477941"/>
            <a:ext cx="1092260" cy="1371600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6" name="Rectangle 5136">
            <a:extLst>
              <a:ext uri="{FF2B5EF4-FFF2-40B4-BE49-F238E27FC236}">
                <a16:creationId xmlns:a16="http://schemas.microsoft.com/office/drawing/2014/main" id="{5CB4E315-91F2-4710-B866-B119037ED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5769" y="1447563"/>
            <a:ext cx="1980472" cy="1396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7" name="Rectangle 5138">
            <a:extLst>
              <a:ext uri="{FF2B5EF4-FFF2-40B4-BE49-F238E27FC236}">
                <a16:creationId xmlns:a16="http://schemas.microsoft.com/office/drawing/2014/main" id="{DCBE1B01-A27C-45C2-ADA4-AA13C3AC1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16" y="2850674"/>
            <a:ext cx="2716145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8" name="Rectangle 5140">
            <a:extLst>
              <a:ext uri="{FF2B5EF4-FFF2-40B4-BE49-F238E27FC236}">
                <a16:creationId xmlns:a16="http://schemas.microsoft.com/office/drawing/2014/main" id="{F6FE5468-759E-4E83-828A-5587C7F58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78372" y="1485831"/>
            <a:ext cx="199093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03842FB-1E56-30D4-545B-42710185E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888" y="1889143"/>
            <a:ext cx="1653942" cy="54532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9682C22-B872-D1D1-A097-B41DB4CB2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499" y="1711496"/>
            <a:ext cx="1685012" cy="868834"/>
          </a:xfrm>
          <a:prstGeom prst="rect">
            <a:avLst/>
          </a:prstGeom>
        </p:spPr>
      </p:pic>
      <p:sp>
        <p:nvSpPr>
          <p:cNvPr id="5159" name="Right Triangle 5142">
            <a:extLst>
              <a:ext uri="{FF2B5EF4-FFF2-40B4-BE49-F238E27FC236}">
                <a16:creationId xmlns:a16="http://schemas.microsoft.com/office/drawing/2014/main" id="{569BABC0-B0CC-4E7B-838A-F6E644779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42224" y="1569583"/>
            <a:ext cx="1399032" cy="115062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60" name="Right Triangle 5144">
            <a:extLst>
              <a:ext uri="{FF2B5EF4-FFF2-40B4-BE49-F238E27FC236}">
                <a16:creationId xmlns:a16="http://schemas.microsoft.com/office/drawing/2014/main" id="{BE7E1DAA-43FB-4446-A354-9283DE668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64669" y="3250084"/>
            <a:ext cx="1911096" cy="1100751"/>
          </a:xfrm>
          <a:prstGeom prst="rtTriangl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Espaço Reservado para Conteúdo 7" descr="Forma, Círculo&#10;&#10;Descrição gerada automaticamente">
            <a:extLst>
              <a:ext uri="{FF2B5EF4-FFF2-40B4-BE49-F238E27FC236}">
                <a16:creationId xmlns:a16="http://schemas.microsoft.com/office/drawing/2014/main" id="{56B95AC5-5D5D-3E20-A401-002F67536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642817" y="3009630"/>
            <a:ext cx="1562189" cy="1581964"/>
          </a:xfrm>
          <a:prstGeom prst="rect">
            <a:avLst/>
          </a:prstGeom>
        </p:spPr>
      </p:pic>
      <p:sp>
        <p:nvSpPr>
          <p:cNvPr id="5161" name="Rectangle 5146">
            <a:extLst>
              <a:ext uri="{FF2B5EF4-FFF2-40B4-BE49-F238E27FC236}">
                <a16:creationId xmlns:a16="http://schemas.microsoft.com/office/drawing/2014/main" id="{99FE99BC-5F7D-47C3-AA1E-16D7DBDBD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6605" y="2841337"/>
            <a:ext cx="278985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C1DFA7B-7E08-2C13-6E03-F0932FB97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2068" y="2994562"/>
            <a:ext cx="1558928" cy="155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62" name="Right Triangle 5148">
            <a:extLst>
              <a:ext uri="{FF2B5EF4-FFF2-40B4-BE49-F238E27FC236}">
                <a16:creationId xmlns:a16="http://schemas.microsoft.com/office/drawing/2014/main" id="{27400BAF-FCE6-4296-8A0E-9B595ADC0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432800" y="4724529"/>
            <a:ext cx="325600" cy="406635"/>
          </a:xfrm>
          <a:prstGeom prst="rtTriangle">
            <a:avLst/>
          </a:prstGeom>
          <a:solidFill>
            <a:srgbClr val="CF8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1" name="Right Triangle 5150">
            <a:extLst>
              <a:ext uri="{FF2B5EF4-FFF2-40B4-BE49-F238E27FC236}">
                <a16:creationId xmlns:a16="http://schemas.microsoft.com/office/drawing/2014/main" id="{F2FC5C7B-261A-4268-BA85-C29488A8B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16496" y="2804968"/>
            <a:ext cx="1911096" cy="1980472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149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4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D30CF6-5646-B17D-DF35-56EBE7558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pt-BR" sz="2200" dirty="0"/>
              <a:t>Síndrome da Impostora</a:t>
            </a:r>
            <a:br>
              <a:rPr lang="pt-BR" sz="2200" dirty="0"/>
            </a:br>
            <a:r>
              <a:rPr lang="pt-BR" sz="4900" dirty="0"/>
              <a:t>Estratégias para superar </a:t>
            </a:r>
            <a:endParaRPr lang="pt-BR" sz="3700" dirty="0"/>
          </a:p>
        </p:txBody>
      </p:sp>
      <p:sp>
        <p:nvSpPr>
          <p:cNvPr id="45" name="Espaço Reservado para Conteúdo 2">
            <a:extLst>
              <a:ext uri="{FF2B5EF4-FFF2-40B4-BE49-F238E27FC236}">
                <a16:creationId xmlns:a16="http://schemas.microsoft.com/office/drawing/2014/main" id="{6253B8AA-0894-E527-93D4-950AD0B3B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pt-BR" sz="2000"/>
              <a:t>Reconhecer e nomear </a:t>
            </a:r>
          </a:p>
          <a:p>
            <a:r>
              <a:rPr lang="pt-BR" sz="2000"/>
              <a:t>Reformular os pensamentos negativos</a:t>
            </a:r>
          </a:p>
          <a:p>
            <a:pPr marL="457200" lvl="1" indent="0">
              <a:buNone/>
            </a:pPr>
            <a:r>
              <a:rPr lang="pt-BR" sz="2000" strike="dblStrike"/>
              <a:t>"Eu tive sorte" </a:t>
            </a:r>
            <a:r>
              <a:rPr lang="pt-BR" sz="2000"/>
              <a:t>transforma-se em "</a:t>
            </a:r>
            <a:r>
              <a:rPr lang="pt-BR" sz="2000" b="1"/>
              <a:t>Eu trabalhei duro para conquistar isso</a:t>
            </a:r>
            <a:r>
              <a:rPr lang="pt-BR" sz="2000"/>
              <a:t>".</a:t>
            </a:r>
          </a:p>
          <a:p>
            <a:r>
              <a:rPr lang="pt-BR" sz="2000"/>
              <a:t>Feedback Construtivo</a:t>
            </a:r>
          </a:p>
          <a:p>
            <a:pPr lvl="1"/>
            <a:r>
              <a:rPr lang="pt-BR" sz="2000"/>
              <a:t>Solicite e Valorize!</a:t>
            </a:r>
          </a:p>
          <a:p>
            <a:r>
              <a:rPr lang="pt-BR" sz="2000"/>
              <a:t>Amplie sua zona de conforto</a:t>
            </a:r>
          </a:p>
          <a:p>
            <a:r>
              <a:rPr lang="pt-BR" sz="2000"/>
              <a:t>Celebre suas vitórias</a:t>
            </a:r>
          </a:p>
        </p:txBody>
      </p:sp>
      <p:pic>
        <p:nvPicPr>
          <p:cNvPr id="46" name="Picture 4" descr="Mãos segurando os pulsos uma da outra e interligadas para formar um círculo">
            <a:extLst>
              <a:ext uri="{FF2B5EF4-FFF2-40B4-BE49-F238E27FC236}">
                <a16:creationId xmlns:a16="http://schemas.microsoft.com/office/drawing/2014/main" id="{8A1CA4B6-7D11-9BF3-D336-C5ED3B6D99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17" r="18482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02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m na multidão">
            <a:extLst>
              <a:ext uri="{FF2B5EF4-FFF2-40B4-BE49-F238E27FC236}">
                <a16:creationId xmlns:a16="http://schemas.microsoft.com/office/drawing/2014/main" id="{26CAD688-2021-B508-C90A-C6FE8600E3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00" r="12610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371AD1-248C-DE9F-4BCC-70B01D75E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pt-BR" sz="4000" dirty="0"/>
              <a:t>O que eu quero que você se lembre ao sair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1764F7-F256-6A39-61F9-E556E80ED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pt-BR" sz="2000" dirty="0"/>
              <a:t>Oportunidades são vastas e desafios podem ser superados</a:t>
            </a:r>
          </a:p>
          <a:p>
            <a:r>
              <a:rPr lang="pt-BR" sz="2000" dirty="0"/>
              <a:t>Faça parte de comunidades ativas!</a:t>
            </a:r>
          </a:p>
          <a:p>
            <a:pPr marL="0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341283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133</TotalTime>
  <Words>240</Words>
  <Application>Microsoft Office PowerPoint</Application>
  <PresentationFormat>Widescreen</PresentationFormat>
  <Paragraphs>39</Paragraphs>
  <Slides>17</Slides>
  <Notes>4</Notes>
  <HiddenSlides>0</HiddenSlides>
  <MMClips>1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Inter</vt:lpstr>
      <vt:lpstr>Meiryo</vt:lpstr>
      <vt:lpstr>Aptos</vt:lpstr>
      <vt:lpstr>Aptos Display</vt:lpstr>
      <vt:lpstr>Arial</vt:lpstr>
      <vt:lpstr>Calibri</vt:lpstr>
      <vt:lpstr>Tema do Office</vt:lpstr>
      <vt:lpstr>Desafios e Oportunidades para Mulheres na Tecnologia</vt:lpstr>
      <vt:lpstr>Apresentação do PowerPoint</vt:lpstr>
      <vt:lpstr>Presença da Mulher na Tecnologia</vt:lpstr>
      <vt:lpstr>Apresentação do PowerPoint</vt:lpstr>
      <vt:lpstr>Em 1970 70% </vt:lpstr>
      <vt:lpstr>25% da força de trabalho da indústria digital </vt:lpstr>
      <vt:lpstr>Hoje  </vt:lpstr>
      <vt:lpstr>Falta de representatividade</vt:lpstr>
      <vt:lpstr>Apresentação do PowerPoint</vt:lpstr>
      <vt:lpstr>Apresentação do PowerPoint</vt:lpstr>
      <vt:lpstr>NINA DA HORA  Mulheres que superaram essas barreiras</vt:lpstr>
      <vt:lpstr>CAMILA ACHUTTI   Mulheres que superaram essas barreiras</vt:lpstr>
      <vt:lpstr>Oportunidades de Crescimento</vt:lpstr>
      <vt:lpstr>Apresentação do PowerPoint</vt:lpstr>
      <vt:lpstr>Redes de apoio</vt:lpstr>
      <vt:lpstr>Síndrome da Impostora Estratégias para superar </vt:lpstr>
      <vt:lpstr>O que eu quero que você se lembre ao sair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Luciana Leal</dc:creator>
  <cp:lastModifiedBy>Luciana Leal</cp:lastModifiedBy>
  <cp:revision>2</cp:revision>
  <dcterms:created xsi:type="dcterms:W3CDTF">2024-09-09T13:11:16Z</dcterms:created>
  <dcterms:modified xsi:type="dcterms:W3CDTF">2024-09-09T15:25:11Z</dcterms:modified>
</cp:coreProperties>
</file>